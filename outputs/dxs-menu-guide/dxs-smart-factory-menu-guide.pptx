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header">
            <a:extLst>
              <a:ext uri="{FF2B5EF4-FFF2-40B4-BE49-F238E27FC236}">
                <a16:creationId xmlns:a16="http://schemas.microsoft.com/office/drawing/2014/main" id="{14E8AA29-24FE-4CED-B6DF-2F91C7D9FF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1-header-accent">
            <a:extLst>
              <a:ext uri="{FF2B5EF4-FFF2-40B4-BE49-F238E27FC236}">
                <a16:creationId xmlns:a16="http://schemas.microsoft.com/office/drawing/2014/main" id="{824638CC-4AF8-47C7-9021-923874903ACF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99060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1-eyebrow">
            <a:extLst>
              <a:ext uri="{FF2B5EF4-FFF2-40B4-BE49-F238E27FC236}">
                <a16:creationId xmlns:a16="http://schemas.microsoft.com/office/drawing/2014/main" id="{0176BC1B-3FDB-4AE8-9D0A-100AF577DB78}"/>
              </a:ext>
            </a:extLst>
          </p:cNvPr>
          <p:cNvSpPr>
            <a:spLocks noGrp="1"/>
          </p:cNvSpPr>
          <p:nvPr/>
        </p:nvSpPr>
        <p:spPr>
          <a:xfrm>
            <a:off x="419100" y="200025"/>
            <a:ext cx="2667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</a:t>
            </a:r>
          </a:p>
        </p:txBody>
      </p:sp>
      <p:sp>
        <p:nvSpPr>
          <p:cNvPr id="5" name="s1-title">
            <a:extLst>
              <a:ext uri="{FF2B5EF4-FFF2-40B4-BE49-F238E27FC236}">
                <a16:creationId xmlns:a16="http://schemas.microsoft.com/office/drawing/2014/main" id="{849252B3-BCD6-4EB2-A1E8-EFC3DE15F1E7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6858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225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25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운영을</a:t>
            </a:r>
            <a:r>
              <a:rPr sz="225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25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잇는</a:t>
            </a:r>
            <a:r>
              <a:rPr sz="225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6개의 </a:t>
            </a:r>
            <a:r>
              <a:rPr lang="ko-KR" altLang="en-US" sz="2250" b="1" i="0" dirty="0" smtClean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기능</a:t>
            </a:r>
            <a:endParaRPr sz="2250" b="1" i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1-subtitle">
            <a:extLst>
              <a:ext uri="{FF2B5EF4-FFF2-40B4-BE49-F238E27FC236}">
                <a16:creationId xmlns:a16="http://schemas.microsoft.com/office/drawing/2014/main" id="{4828BCBC-8BD5-43B5-B5B9-D665993F7C2A}"/>
              </a:ext>
            </a:extLst>
          </p:cNvPr>
          <p:cNvSpPr>
            <a:spLocks noGrp="1"/>
          </p:cNvSpPr>
          <p:nvPr/>
        </p:nvSpPr>
        <p:spPr>
          <a:xfrm>
            <a:off x="419100" y="752475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자재 입고부터 제품 출하까지, 메뉴별 주요 화면과 업무 가치를 한눈에 소개합니다.</a:t>
            </a:r>
          </a:p>
        </p:txBody>
      </p:sp>
      <p:sp>
        <p:nvSpPr>
          <p:cNvPr id="7" name="s1-flow-title">
            <a:extLst>
              <a:ext uri="{FF2B5EF4-FFF2-40B4-BE49-F238E27FC236}">
                <a16:creationId xmlns:a16="http://schemas.microsoft.com/office/drawing/2014/main" id="{87ED5930-5FB9-426F-9C0D-09D73F057C80}"/>
              </a:ext>
            </a:extLst>
          </p:cNvPr>
          <p:cNvSpPr>
            <a:spLocks noGrp="1"/>
          </p:cNvSpPr>
          <p:nvPr/>
        </p:nvSpPr>
        <p:spPr>
          <a:xfrm>
            <a:off x="9639300" y="2381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END-TO-END</a:t>
            </a:r>
          </a:p>
        </p:txBody>
      </p:sp>
      <p:sp>
        <p:nvSpPr>
          <p:cNvPr id="8" name="s1-flow-line">
            <a:extLst>
              <a:ext uri="{FF2B5EF4-FFF2-40B4-BE49-F238E27FC236}">
                <a16:creationId xmlns:a16="http://schemas.microsoft.com/office/drawing/2014/main" id="{4E057D87-BEC7-4B96-B65D-C2543DB8C798}"/>
              </a:ext>
            </a:extLst>
          </p:cNvPr>
          <p:cNvSpPr>
            <a:spLocks noGrp="1"/>
          </p:cNvSpPr>
          <p:nvPr/>
        </p:nvSpPr>
        <p:spPr>
          <a:xfrm>
            <a:off x="9372600" y="590550"/>
            <a:ext cx="2228850" cy="0"/>
          </a:xfrm>
          <a:prstGeom prst="line">
            <a:avLst/>
          </a:prstGeom>
          <a:noFill/>
          <a:ln w="14288">
            <a:solidFill>
              <a:srgbClr val="9CC8FF"/>
            </a:solidFill>
            <a:prstDash val="solid"/>
          </a:ln>
        </p:spPr>
      </p:sp>
      <p:sp>
        <p:nvSpPr>
          <p:cNvPr id="9" name="s1-flow-dot-0">
            <a:extLst>
              <a:ext uri="{FF2B5EF4-FFF2-40B4-BE49-F238E27FC236}">
                <a16:creationId xmlns:a16="http://schemas.microsoft.com/office/drawing/2014/main" id="{CE31BA14-6E50-4983-B579-8EC73479F397}"/>
              </a:ext>
            </a:extLst>
          </p:cNvPr>
          <p:cNvSpPr>
            <a:spLocks noGrp="1"/>
          </p:cNvSpPr>
          <p:nvPr/>
        </p:nvSpPr>
        <p:spPr>
          <a:xfrm>
            <a:off x="9363075" y="542925"/>
            <a:ext cx="95250" cy="95250"/>
          </a:xfrm>
          <a:prstGeom prst="ellipse">
            <a:avLst/>
          </a:prstGeom>
          <a:solidFill>
            <a:srgbClr val="FFFFF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" name="s1-flow-label-0">
            <a:extLst>
              <a:ext uri="{FF2B5EF4-FFF2-40B4-BE49-F238E27FC236}">
                <a16:creationId xmlns:a16="http://schemas.microsoft.com/office/drawing/2014/main" id="{C6A6B93C-B93F-49F1-908D-EFDA14CEAA72}"/>
              </a:ext>
            </a:extLst>
          </p:cNvPr>
          <p:cNvSpPr>
            <a:spLocks noGrp="1"/>
          </p:cNvSpPr>
          <p:nvPr/>
        </p:nvSpPr>
        <p:spPr>
          <a:xfrm>
            <a:off x="9220200" y="72390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입고</a:t>
            </a:r>
          </a:p>
        </p:txBody>
      </p:sp>
      <p:sp>
        <p:nvSpPr>
          <p:cNvPr id="11" name="s1-flow-dot-1">
            <a:extLst>
              <a:ext uri="{FF2B5EF4-FFF2-40B4-BE49-F238E27FC236}">
                <a16:creationId xmlns:a16="http://schemas.microsoft.com/office/drawing/2014/main" id="{4FDFA20D-74C4-4A28-B27B-53752B54B3B2}"/>
              </a:ext>
            </a:extLst>
          </p:cNvPr>
          <p:cNvSpPr>
            <a:spLocks noGrp="1"/>
          </p:cNvSpPr>
          <p:nvPr/>
        </p:nvSpPr>
        <p:spPr>
          <a:xfrm>
            <a:off x="9796463" y="542925"/>
            <a:ext cx="95250" cy="95250"/>
          </a:xfrm>
          <a:prstGeom prst="ellipse">
            <a:avLst/>
          </a:prstGeom>
          <a:solidFill>
            <a:srgbClr val="A8D0F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2" name="s1-flow-label-1">
            <a:extLst>
              <a:ext uri="{FF2B5EF4-FFF2-40B4-BE49-F238E27FC236}">
                <a16:creationId xmlns:a16="http://schemas.microsoft.com/office/drawing/2014/main" id="{D26D83D8-7E23-45B4-A4A6-36125AF2E209}"/>
              </a:ext>
            </a:extLst>
          </p:cNvPr>
          <p:cNvSpPr>
            <a:spLocks noGrp="1"/>
          </p:cNvSpPr>
          <p:nvPr/>
        </p:nvSpPr>
        <p:spPr>
          <a:xfrm>
            <a:off x="9653588" y="72390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13" name="s1-flow-dot-2">
            <a:extLst>
              <a:ext uri="{FF2B5EF4-FFF2-40B4-BE49-F238E27FC236}">
                <a16:creationId xmlns:a16="http://schemas.microsoft.com/office/drawing/2014/main" id="{84757E11-9A32-4B7B-B6E8-B877AE20A709}"/>
              </a:ext>
            </a:extLst>
          </p:cNvPr>
          <p:cNvSpPr>
            <a:spLocks noGrp="1"/>
          </p:cNvSpPr>
          <p:nvPr/>
        </p:nvSpPr>
        <p:spPr>
          <a:xfrm>
            <a:off x="10229850" y="542925"/>
            <a:ext cx="95250" cy="95250"/>
          </a:xfrm>
          <a:prstGeom prst="ellipse">
            <a:avLst/>
          </a:prstGeom>
          <a:solidFill>
            <a:srgbClr val="A8D0F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4" name="s1-flow-label-2">
            <a:extLst>
              <a:ext uri="{FF2B5EF4-FFF2-40B4-BE49-F238E27FC236}">
                <a16:creationId xmlns:a16="http://schemas.microsoft.com/office/drawing/2014/main" id="{BC7D1C4A-A172-4D05-BB68-C43E63F81728}"/>
              </a:ext>
            </a:extLst>
          </p:cNvPr>
          <p:cNvSpPr>
            <a:spLocks noGrp="1"/>
          </p:cNvSpPr>
          <p:nvPr/>
        </p:nvSpPr>
        <p:spPr>
          <a:xfrm>
            <a:off x="10086975" y="72390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15" name="s1-flow-dot-3">
            <a:extLst>
              <a:ext uri="{FF2B5EF4-FFF2-40B4-BE49-F238E27FC236}">
                <a16:creationId xmlns:a16="http://schemas.microsoft.com/office/drawing/2014/main" id="{F5DB0EC8-39D5-45B5-856D-8F8E3253D4F3}"/>
              </a:ext>
            </a:extLst>
          </p:cNvPr>
          <p:cNvSpPr>
            <a:spLocks noGrp="1"/>
          </p:cNvSpPr>
          <p:nvPr/>
        </p:nvSpPr>
        <p:spPr>
          <a:xfrm>
            <a:off x="10663238" y="542925"/>
            <a:ext cx="95250" cy="95250"/>
          </a:xfrm>
          <a:prstGeom prst="ellipse">
            <a:avLst/>
          </a:prstGeom>
          <a:solidFill>
            <a:srgbClr val="A8D0F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" name="s1-flow-label-3">
            <a:extLst>
              <a:ext uri="{FF2B5EF4-FFF2-40B4-BE49-F238E27FC236}">
                <a16:creationId xmlns:a16="http://schemas.microsoft.com/office/drawing/2014/main" id="{04E6F784-4883-4BB0-B2EC-BAECD0A20B73}"/>
              </a:ext>
            </a:extLst>
          </p:cNvPr>
          <p:cNvSpPr>
            <a:spLocks noGrp="1"/>
          </p:cNvSpPr>
          <p:nvPr/>
        </p:nvSpPr>
        <p:spPr>
          <a:xfrm>
            <a:off x="10520363" y="72390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생산</a:t>
            </a:r>
          </a:p>
        </p:txBody>
      </p:sp>
      <p:sp>
        <p:nvSpPr>
          <p:cNvPr id="17" name="s1-flow-dot-4">
            <a:extLst>
              <a:ext uri="{FF2B5EF4-FFF2-40B4-BE49-F238E27FC236}">
                <a16:creationId xmlns:a16="http://schemas.microsoft.com/office/drawing/2014/main" id="{A90B3B00-0A78-4FA4-8CB9-D627EB9A1973}"/>
              </a:ext>
            </a:extLst>
          </p:cNvPr>
          <p:cNvSpPr>
            <a:spLocks noGrp="1"/>
          </p:cNvSpPr>
          <p:nvPr/>
        </p:nvSpPr>
        <p:spPr>
          <a:xfrm>
            <a:off x="11096625" y="542925"/>
            <a:ext cx="95250" cy="95250"/>
          </a:xfrm>
          <a:prstGeom prst="ellipse">
            <a:avLst/>
          </a:prstGeom>
          <a:solidFill>
            <a:srgbClr val="A8D0F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8" name="s1-flow-label-4">
            <a:extLst>
              <a:ext uri="{FF2B5EF4-FFF2-40B4-BE49-F238E27FC236}">
                <a16:creationId xmlns:a16="http://schemas.microsoft.com/office/drawing/2014/main" id="{B88D5DC1-8EEE-4A53-8300-4826D5A5E269}"/>
              </a:ext>
            </a:extLst>
          </p:cNvPr>
          <p:cNvSpPr>
            <a:spLocks noGrp="1"/>
          </p:cNvSpPr>
          <p:nvPr/>
        </p:nvSpPr>
        <p:spPr>
          <a:xfrm>
            <a:off x="10953750" y="72390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</a:t>
            </a:r>
          </a:p>
        </p:txBody>
      </p:sp>
      <p:sp>
        <p:nvSpPr>
          <p:cNvPr id="19" name="s1-flow-dot-5">
            <a:extLst>
              <a:ext uri="{FF2B5EF4-FFF2-40B4-BE49-F238E27FC236}">
                <a16:creationId xmlns:a16="http://schemas.microsoft.com/office/drawing/2014/main" id="{D5398D9F-F576-4D5F-9EC3-914711256085}"/>
              </a:ext>
            </a:extLst>
          </p:cNvPr>
          <p:cNvSpPr>
            <a:spLocks noGrp="1"/>
          </p:cNvSpPr>
          <p:nvPr/>
        </p:nvSpPr>
        <p:spPr>
          <a:xfrm>
            <a:off x="11530013" y="542925"/>
            <a:ext cx="95250" cy="95250"/>
          </a:xfrm>
          <a:prstGeom prst="ellipse">
            <a:avLst/>
          </a:prstGeom>
          <a:solidFill>
            <a:srgbClr val="FFFFFF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0" name="s1-flow-label-5">
            <a:extLst>
              <a:ext uri="{FF2B5EF4-FFF2-40B4-BE49-F238E27FC236}">
                <a16:creationId xmlns:a16="http://schemas.microsoft.com/office/drawing/2014/main" id="{62098E31-A11A-4C16-92D2-511A2BAD22CF}"/>
              </a:ext>
            </a:extLst>
          </p:cNvPr>
          <p:cNvSpPr>
            <a:spLocks noGrp="1"/>
          </p:cNvSpPr>
          <p:nvPr/>
        </p:nvSpPr>
        <p:spPr>
          <a:xfrm>
            <a:off x="11387138" y="723900"/>
            <a:ext cx="381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8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출하</a:t>
            </a:r>
          </a:p>
        </p:txBody>
      </p:sp>
      <p:sp>
        <p:nvSpPr>
          <p:cNvPr id="21" name="s1-card-1-bg">
            <a:extLst>
              <a:ext uri="{FF2B5EF4-FFF2-40B4-BE49-F238E27FC236}">
                <a16:creationId xmlns:a16="http://schemas.microsoft.com/office/drawing/2014/main" id="{4E5E58B7-8144-4316-B6AD-6730C6E59EE7}"/>
              </a:ext>
            </a:extLst>
          </p:cNvPr>
          <p:cNvSpPr>
            <a:spLocks noGrp="1"/>
          </p:cNvSpPr>
          <p:nvPr/>
        </p:nvSpPr>
        <p:spPr>
          <a:xfrm>
            <a:off x="419100" y="1143000"/>
            <a:ext cx="5600700" cy="161925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2" name="s1-card-1-rail">
            <a:extLst>
              <a:ext uri="{FF2B5EF4-FFF2-40B4-BE49-F238E27FC236}">
                <a16:creationId xmlns:a16="http://schemas.microsoft.com/office/drawing/2014/main" id="{6CD71E9A-40C2-44D5-9B29-BC41AB7E3FE9}"/>
              </a:ext>
            </a:extLst>
          </p:cNvPr>
          <p:cNvSpPr>
            <a:spLocks noGrp="1"/>
          </p:cNvSpPr>
          <p:nvPr/>
        </p:nvSpPr>
        <p:spPr>
          <a:xfrm>
            <a:off x="419100" y="11430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3" name="s1-card-1-no-bg">
            <a:extLst>
              <a:ext uri="{FF2B5EF4-FFF2-40B4-BE49-F238E27FC236}">
                <a16:creationId xmlns:a16="http://schemas.microsoft.com/office/drawing/2014/main" id="{4DE6DFA8-A8C9-451C-BB9D-8F2BE64E34F8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24" name="s1-card-1-no-text">
            <a:extLst>
              <a:ext uri="{FF2B5EF4-FFF2-40B4-BE49-F238E27FC236}">
                <a16:creationId xmlns:a16="http://schemas.microsoft.com/office/drawing/2014/main" id="{722EF6DC-2EE8-472F-B235-D86476106564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5" name="s1-card-1-image-frame">
            <a:extLst>
              <a:ext uri="{FF2B5EF4-FFF2-40B4-BE49-F238E27FC236}">
                <a16:creationId xmlns:a16="http://schemas.microsoft.com/office/drawing/2014/main" id="{F705048E-3394-4E6A-AD58-3FAD9B9D66AD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20383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121" name="그림 1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1608" y="1552575"/>
            <a:ext cx="1998133" cy="1123950"/>
          </a:xfrm>
          <a:prstGeom prst="roundRect">
            <a:avLst>
              <a:gd name="adj" fmla="val 6780"/>
            </a:avLst>
          </a:prstGeom>
        </p:spPr>
      </p:pic>
      <p:sp>
        <p:nvSpPr>
          <p:cNvPr id="27" name="s1-card-1-name">
            <a:extLst>
              <a:ext uri="{FF2B5EF4-FFF2-40B4-BE49-F238E27FC236}">
                <a16:creationId xmlns:a16="http://schemas.microsoft.com/office/drawing/2014/main" id="{C8B0414F-7E96-4C9E-B2E7-AF505CEA84D8}"/>
              </a:ext>
            </a:extLst>
          </p:cNvPr>
          <p:cNvSpPr>
            <a:spLocks noGrp="1"/>
          </p:cNvSpPr>
          <p:nvPr/>
        </p:nvSpPr>
        <p:spPr>
          <a:xfrm>
            <a:off x="2781300" y="130492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자재관리</a:t>
            </a:r>
          </a:p>
        </p:txBody>
      </p:sp>
      <p:sp>
        <p:nvSpPr>
          <p:cNvPr id="28" name="s1-card-1-headline">
            <a:extLst>
              <a:ext uri="{FF2B5EF4-FFF2-40B4-BE49-F238E27FC236}">
                <a16:creationId xmlns:a16="http://schemas.microsoft.com/office/drawing/2014/main" id="{21A2CC5F-FDA6-4903-A60C-5A3B5DF5CD31}"/>
              </a:ext>
            </a:extLst>
          </p:cNvPr>
          <p:cNvSpPr>
            <a:spLocks noGrp="1"/>
          </p:cNvSpPr>
          <p:nvPr/>
        </p:nvSpPr>
        <p:spPr>
          <a:xfrm>
            <a:off x="2781300" y="1619250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입고부터 공정 투입까지</a:t>
            </a:r>
          </a:p>
        </p:txBody>
      </p:sp>
      <p:sp>
        <p:nvSpPr>
          <p:cNvPr id="29" name="s1-card-1-intro">
            <a:extLst>
              <a:ext uri="{FF2B5EF4-FFF2-40B4-BE49-F238E27FC236}">
                <a16:creationId xmlns:a16="http://schemas.microsoft.com/office/drawing/2014/main" id="{5889AF54-6D69-4BFC-B646-A0BBB9145229}"/>
              </a:ext>
            </a:extLst>
          </p:cNvPr>
          <p:cNvSpPr>
            <a:spLocks noGrp="1"/>
          </p:cNvSpPr>
          <p:nvPr/>
        </p:nvSpPr>
        <p:spPr>
          <a:xfrm>
            <a:off x="2781300" y="1895475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차량·검수·창고·공정재고를 하나의 자재 흐름으로 확인합니다.</a:t>
            </a:r>
          </a:p>
        </p:txBody>
      </p:sp>
      <p:sp>
        <p:nvSpPr>
          <p:cNvPr id="30" name="s1-card-1-rule">
            <a:extLst>
              <a:ext uri="{FF2B5EF4-FFF2-40B4-BE49-F238E27FC236}">
                <a16:creationId xmlns:a16="http://schemas.microsoft.com/office/drawing/2014/main" id="{7CD33219-22D6-4E85-BC01-32462BE3E7D9}"/>
              </a:ext>
            </a:extLst>
          </p:cNvPr>
          <p:cNvSpPr>
            <a:spLocks noGrp="1"/>
          </p:cNvSpPr>
          <p:nvPr/>
        </p:nvSpPr>
        <p:spPr>
          <a:xfrm>
            <a:off x="2781300" y="2343150"/>
            <a:ext cx="2952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32" name="s1-card-1-cta">
            <a:extLst>
              <a:ext uri="{FF2B5EF4-FFF2-40B4-BE49-F238E27FC236}">
                <a16:creationId xmlns:a16="http://schemas.microsoft.com/office/drawing/2014/main" id="{572E6A28-3B9F-48E8-8DC8-4E8766CE5F32}"/>
              </a:ext>
            </a:extLst>
          </p:cNvPr>
          <p:cNvSpPr>
            <a:spLocks noGrp="1"/>
          </p:cNvSpPr>
          <p:nvPr/>
        </p:nvSpPr>
        <p:spPr>
          <a:xfrm>
            <a:off x="4686300" y="244792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메뉴 상세 →</a:t>
            </a:r>
          </a:p>
        </p:txBody>
      </p:sp>
      <p:sp>
        <p:nvSpPr>
          <p:cNvPr id="33" name="s1-card-2-bg">
            <a:extLst>
              <a:ext uri="{FF2B5EF4-FFF2-40B4-BE49-F238E27FC236}">
                <a16:creationId xmlns:a16="http://schemas.microsoft.com/office/drawing/2014/main" id="{A9EDAC15-4177-4440-BE7A-72BA7F3B95BF}"/>
              </a:ext>
            </a:extLst>
          </p:cNvPr>
          <p:cNvSpPr>
            <a:spLocks noGrp="1"/>
          </p:cNvSpPr>
          <p:nvPr/>
        </p:nvSpPr>
        <p:spPr>
          <a:xfrm>
            <a:off x="6172200" y="1143000"/>
            <a:ext cx="5600700" cy="161925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34" name="s1-card-2-rail">
            <a:extLst>
              <a:ext uri="{FF2B5EF4-FFF2-40B4-BE49-F238E27FC236}">
                <a16:creationId xmlns:a16="http://schemas.microsoft.com/office/drawing/2014/main" id="{8C127168-AAFA-472B-AF5A-C8A036A02177}"/>
              </a:ext>
            </a:extLst>
          </p:cNvPr>
          <p:cNvSpPr>
            <a:spLocks noGrp="1"/>
          </p:cNvSpPr>
          <p:nvPr/>
        </p:nvSpPr>
        <p:spPr>
          <a:xfrm>
            <a:off x="6172200" y="11430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5" name="s1-card-2-no-bg">
            <a:extLst>
              <a:ext uri="{FF2B5EF4-FFF2-40B4-BE49-F238E27FC236}">
                <a16:creationId xmlns:a16="http://schemas.microsoft.com/office/drawing/2014/main" id="{EBF7924C-8625-4F18-8353-1651E3071882}"/>
              </a:ext>
            </a:extLst>
          </p:cNvPr>
          <p:cNvSpPr>
            <a:spLocks noGrp="1"/>
          </p:cNvSpPr>
          <p:nvPr/>
        </p:nvSpPr>
        <p:spPr>
          <a:xfrm>
            <a:off x="6343650" y="129540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36" name="s1-card-2-no-text">
            <a:extLst>
              <a:ext uri="{FF2B5EF4-FFF2-40B4-BE49-F238E27FC236}">
                <a16:creationId xmlns:a16="http://schemas.microsoft.com/office/drawing/2014/main" id="{DF7E180A-15FD-4338-BDD0-3F820462C6BA}"/>
              </a:ext>
            </a:extLst>
          </p:cNvPr>
          <p:cNvSpPr>
            <a:spLocks noGrp="1"/>
          </p:cNvSpPr>
          <p:nvPr/>
        </p:nvSpPr>
        <p:spPr>
          <a:xfrm>
            <a:off x="6343650" y="12954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7" name="s1-card-2-image-frame">
            <a:extLst>
              <a:ext uri="{FF2B5EF4-FFF2-40B4-BE49-F238E27FC236}">
                <a16:creationId xmlns:a16="http://schemas.microsoft.com/office/drawing/2014/main" id="{D45A9032-2B02-4A7C-8CDB-12E140B90672}"/>
              </a:ext>
            </a:extLst>
          </p:cNvPr>
          <p:cNvSpPr>
            <a:spLocks noGrp="1"/>
          </p:cNvSpPr>
          <p:nvPr/>
        </p:nvSpPr>
        <p:spPr>
          <a:xfrm>
            <a:off x="6324600" y="1533525"/>
            <a:ext cx="20383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133" name="그림 1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4708" y="1552575"/>
            <a:ext cx="1998133" cy="1123950"/>
          </a:xfrm>
          <a:prstGeom prst="roundRect">
            <a:avLst>
              <a:gd name="adj" fmla="val 6780"/>
            </a:avLst>
          </a:prstGeom>
        </p:spPr>
      </p:pic>
      <p:sp>
        <p:nvSpPr>
          <p:cNvPr id="39" name="s1-card-2-name">
            <a:extLst>
              <a:ext uri="{FF2B5EF4-FFF2-40B4-BE49-F238E27FC236}">
                <a16:creationId xmlns:a16="http://schemas.microsoft.com/office/drawing/2014/main" id="{A43EEF13-F12B-42CC-9C6A-CCC98FCD9CA1}"/>
              </a:ext>
            </a:extLst>
          </p:cNvPr>
          <p:cNvSpPr>
            <a:spLocks noGrp="1"/>
          </p:cNvSpPr>
          <p:nvPr/>
        </p:nvSpPr>
        <p:spPr>
          <a:xfrm>
            <a:off x="8534400" y="130492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공정품질</a:t>
            </a:r>
          </a:p>
        </p:txBody>
      </p:sp>
      <p:sp>
        <p:nvSpPr>
          <p:cNvPr id="40" name="s1-card-2-headline">
            <a:extLst>
              <a:ext uri="{FF2B5EF4-FFF2-40B4-BE49-F238E27FC236}">
                <a16:creationId xmlns:a16="http://schemas.microsoft.com/office/drawing/2014/main" id="{2414CB1B-568B-4BE9-9289-7953206AA791}"/>
              </a:ext>
            </a:extLst>
          </p:cNvPr>
          <p:cNvSpPr>
            <a:spLocks noGrp="1"/>
          </p:cNvSpPr>
          <p:nvPr/>
        </p:nvSpPr>
        <p:spPr>
          <a:xfrm>
            <a:off x="8534400" y="1619250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비전 검사의 모든 판정</a:t>
            </a:r>
          </a:p>
        </p:txBody>
      </p:sp>
      <p:sp>
        <p:nvSpPr>
          <p:cNvPr id="41" name="s1-card-2-intro">
            <a:extLst>
              <a:ext uri="{FF2B5EF4-FFF2-40B4-BE49-F238E27FC236}">
                <a16:creationId xmlns:a16="http://schemas.microsoft.com/office/drawing/2014/main" id="{68A6DBAA-1701-4070-8359-8B16AF63CF74}"/>
              </a:ext>
            </a:extLst>
          </p:cNvPr>
          <p:cNvSpPr>
            <a:spLocks noGrp="1"/>
          </p:cNvSpPr>
          <p:nvPr/>
        </p:nvSpPr>
        <p:spPr>
          <a:xfrm>
            <a:off x="8534400" y="1895475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유리 간격부터 누수·가스켓·필름까지 검사 결과와 현장 이미지를 모아봅니다.</a:t>
            </a:r>
          </a:p>
        </p:txBody>
      </p:sp>
      <p:sp>
        <p:nvSpPr>
          <p:cNvPr id="42" name="s1-card-2-rule">
            <a:extLst>
              <a:ext uri="{FF2B5EF4-FFF2-40B4-BE49-F238E27FC236}">
                <a16:creationId xmlns:a16="http://schemas.microsoft.com/office/drawing/2014/main" id="{2FFC7AD7-CDD4-4F5A-A78C-79E305F7AE47}"/>
              </a:ext>
            </a:extLst>
          </p:cNvPr>
          <p:cNvSpPr>
            <a:spLocks noGrp="1"/>
          </p:cNvSpPr>
          <p:nvPr/>
        </p:nvSpPr>
        <p:spPr>
          <a:xfrm>
            <a:off x="8534400" y="2343150"/>
            <a:ext cx="2952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44" name="s1-card-2-cta">
            <a:extLst>
              <a:ext uri="{FF2B5EF4-FFF2-40B4-BE49-F238E27FC236}">
                <a16:creationId xmlns:a16="http://schemas.microsoft.com/office/drawing/2014/main" id="{935ACFC2-1448-4EB8-9202-DBCE91CDD207}"/>
              </a:ext>
            </a:extLst>
          </p:cNvPr>
          <p:cNvSpPr>
            <a:spLocks noGrp="1"/>
          </p:cNvSpPr>
          <p:nvPr/>
        </p:nvSpPr>
        <p:spPr>
          <a:xfrm>
            <a:off x="10439400" y="244792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메뉴 상세 →</a:t>
            </a:r>
          </a:p>
        </p:txBody>
      </p:sp>
      <p:sp>
        <p:nvSpPr>
          <p:cNvPr id="45" name="s1-card-3-bg">
            <a:extLst>
              <a:ext uri="{FF2B5EF4-FFF2-40B4-BE49-F238E27FC236}">
                <a16:creationId xmlns:a16="http://schemas.microsoft.com/office/drawing/2014/main" id="{0207D08C-E62F-4537-93F1-DBC2A10C0A5D}"/>
              </a:ext>
            </a:extLst>
          </p:cNvPr>
          <p:cNvSpPr>
            <a:spLocks noGrp="1"/>
          </p:cNvSpPr>
          <p:nvPr/>
        </p:nvSpPr>
        <p:spPr>
          <a:xfrm>
            <a:off x="419100" y="2838450"/>
            <a:ext cx="5600700" cy="161925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46" name="s1-card-3-rail">
            <a:extLst>
              <a:ext uri="{FF2B5EF4-FFF2-40B4-BE49-F238E27FC236}">
                <a16:creationId xmlns:a16="http://schemas.microsoft.com/office/drawing/2014/main" id="{4A42D5E4-A3EC-44A6-B910-C0F25BF1BD56}"/>
              </a:ext>
            </a:extLst>
          </p:cNvPr>
          <p:cNvSpPr>
            <a:spLocks noGrp="1"/>
          </p:cNvSpPr>
          <p:nvPr/>
        </p:nvSpPr>
        <p:spPr>
          <a:xfrm>
            <a:off x="419100" y="283845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7" name="s1-card-3-no-bg">
            <a:extLst>
              <a:ext uri="{FF2B5EF4-FFF2-40B4-BE49-F238E27FC236}">
                <a16:creationId xmlns:a16="http://schemas.microsoft.com/office/drawing/2014/main" id="{7BB5659D-9D4F-4AFC-83C8-48E80DCB419E}"/>
              </a:ext>
            </a:extLst>
          </p:cNvPr>
          <p:cNvSpPr>
            <a:spLocks noGrp="1"/>
          </p:cNvSpPr>
          <p:nvPr/>
        </p:nvSpPr>
        <p:spPr>
          <a:xfrm>
            <a:off x="590550" y="299085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48" name="s1-card-3-no-text">
            <a:extLst>
              <a:ext uri="{FF2B5EF4-FFF2-40B4-BE49-F238E27FC236}">
                <a16:creationId xmlns:a16="http://schemas.microsoft.com/office/drawing/2014/main" id="{92CB8319-969F-4298-864F-9F4E04F04E93}"/>
              </a:ext>
            </a:extLst>
          </p:cNvPr>
          <p:cNvSpPr>
            <a:spLocks noGrp="1"/>
          </p:cNvSpPr>
          <p:nvPr/>
        </p:nvSpPr>
        <p:spPr>
          <a:xfrm>
            <a:off x="590550" y="29908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9" name="s1-card-3-image-frame">
            <a:extLst>
              <a:ext uri="{FF2B5EF4-FFF2-40B4-BE49-F238E27FC236}">
                <a16:creationId xmlns:a16="http://schemas.microsoft.com/office/drawing/2014/main" id="{C282ED24-EEC6-4314-BEDC-5A60B564EC7E}"/>
              </a:ext>
            </a:extLst>
          </p:cNvPr>
          <p:cNvSpPr>
            <a:spLocks noGrp="1"/>
          </p:cNvSpPr>
          <p:nvPr/>
        </p:nvSpPr>
        <p:spPr>
          <a:xfrm>
            <a:off x="571500" y="3228975"/>
            <a:ext cx="20383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145" name="그림 14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1608" y="3248025"/>
            <a:ext cx="1998133" cy="1123950"/>
          </a:xfrm>
          <a:prstGeom prst="roundRect">
            <a:avLst>
              <a:gd name="adj" fmla="val 6780"/>
            </a:avLst>
          </a:prstGeom>
        </p:spPr>
      </p:pic>
      <p:sp>
        <p:nvSpPr>
          <p:cNvPr id="51" name="s1-card-3-name">
            <a:extLst>
              <a:ext uri="{FF2B5EF4-FFF2-40B4-BE49-F238E27FC236}">
                <a16:creationId xmlns:a16="http://schemas.microsoft.com/office/drawing/2014/main" id="{A241155C-E96B-47EC-ADF6-F76D832979EE}"/>
              </a:ext>
            </a:extLst>
          </p:cNvPr>
          <p:cNvSpPr>
            <a:spLocks noGrp="1"/>
          </p:cNvSpPr>
          <p:nvPr/>
        </p:nvSpPr>
        <p:spPr>
          <a:xfrm>
            <a:off x="2781300" y="300037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공정설비</a:t>
            </a:r>
          </a:p>
        </p:txBody>
      </p:sp>
      <p:sp>
        <p:nvSpPr>
          <p:cNvPr id="52" name="s1-card-3-headline">
            <a:extLst>
              <a:ext uri="{FF2B5EF4-FFF2-40B4-BE49-F238E27FC236}">
                <a16:creationId xmlns:a16="http://schemas.microsoft.com/office/drawing/2014/main" id="{ECBEB4C7-76A1-4A35-A28F-9BB50852BCF6}"/>
              </a:ext>
            </a:extLst>
          </p:cNvPr>
          <p:cNvSpPr>
            <a:spLocks noGrp="1"/>
          </p:cNvSpPr>
          <p:nvPr/>
        </p:nvSpPr>
        <p:spPr>
          <a:xfrm>
            <a:off x="2781300" y="3314700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설비 이상을 먼저 읽다</a:t>
            </a:r>
          </a:p>
        </p:txBody>
      </p:sp>
      <p:sp>
        <p:nvSpPr>
          <p:cNvPr id="53" name="s1-card-3-intro">
            <a:extLst>
              <a:ext uri="{FF2B5EF4-FFF2-40B4-BE49-F238E27FC236}">
                <a16:creationId xmlns:a16="http://schemas.microsoft.com/office/drawing/2014/main" id="{975651B3-5AEE-4C6D-8A03-512594043D9F}"/>
              </a:ext>
            </a:extLst>
          </p:cNvPr>
          <p:cNvSpPr>
            <a:spLocks noGrp="1"/>
          </p:cNvSpPr>
          <p:nvPr/>
        </p:nvSpPr>
        <p:spPr>
          <a:xfrm>
            <a:off x="2781300" y="3590925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3D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공정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관제와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센서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지표로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설비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상태와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이상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징후를</a:t>
            </a:r>
            <a:r>
              <a:rPr sz="803" b="0" i="0" dirty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3" b="0" i="0" dirty="0" err="1" smtClean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추적합니다</a:t>
            </a:r>
            <a:endParaRPr sz="803" b="0" i="0" dirty="0">
              <a:solidFill>
                <a:srgbClr val="43577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1-card-3-rule">
            <a:extLst>
              <a:ext uri="{FF2B5EF4-FFF2-40B4-BE49-F238E27FC236}">
                <a16:creationId xmlns:a16="http://schemas.microsoft.com/office/drawing/2014/main" id="{ECCA5611-4011-4972-9057-7B3D0540EC2F}"/>
              </a:ext>
            </a:extLst>
          </p:cNvPr>
          <p:cNvSpPr>
            <a:spLocks noGrp="1"/>
          </p:cNvSpPr>
          <p:nvPr/>
        </p:nvSpPr>
        <p:spPr>
          <a:xfrm>
            <a:off x="2781300" y="4038600"/>
            <a:ext cx="2952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56" name="s1-card-3-cta">
            <a:extLst>
              <a:ext uri="{FF2B5EF4-FFF2-40B4-BE49-F238E27FC236}">
                <a16:creationId xmlns:a16="http://schemas.microsoft.com/office/drawing/2014/main" id="{6688CAA5-76E3-4192-BD53-C540947AAD9B}"/>
              </a:ext>
            </a:extLst>
          </p:cNvPr>
          <p:cNvSpPr>
            <a:spLocks noGrp="1"/>
          </p:cNvSpPr>
          <p:nvPr/>
        </p:nvSpPr>
        <p:spPr>
          <a:xfrm>
            <a:off x="4686300" y="4143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메뉴 상세 →</a:t>
            </a:r>
          </a:p>
        </p:txBody>
      </p:sp>
      <p:sp>
        <p:nvSpPr>
          <p:cNvPr id="57" name="s1-card-4-bg">
            <a:extLst>
              <a:ext uri="{FF2B5EF4-FFF2-40B4-BE49-F238E27FC236}">
                <a16:creationId xmlns:a16="http://schemas.microsoft.com/office/drawing/2014/main" id="{BBDD4496-C956-4DF4-83AE-1693B626AD60}"/>
              </a:ext>
            </a:extLst>
          </p:cNvPr>
          <p:cNvSpPr>
            <a:spLocks noGrp="1"/>
          </p:cNvSpPr>
          <p:nvPr/>
        </p:nvSpPr>
        <p:spPr>
          <a:xfrm>
            <a:off x="6172200" y="2838450"/>
            <a:ext cx="5600700" cy="161925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58" name="s1-card-4-rail">
            <a:extLst>
              <a:ext uri="{FF2B5EF4-FFF2-40B4-BE49-F238E27FC236}">
                <a16:creationId xmlns:a16="http://schemas.microsoft.com/office/drawing/2014/main" id="{D8334FF7-3A07-45DD-80E2-2E0118B3469A}"/>
              </a:ext>
            </a:extLst>
          </p:cNvPr>
          <p:cNvSpPr>
            <a:spLocks noGrp="1"/>
          </p:cNvSpPr>
          <p:nvPr/>
        </p:nvSpPr>
        <p:spPr>
          <a:xfrm>
            <a:off x="6172200" y="283845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59" name="s1-card-4-no-bg">
            <a:extLst>
              <a:ext uri="{FF2B5EF4-FFF2-40B4-BE49-F238E27FC236}">
                <a16:creationId xmlns:a16="http://schemas.microsoft.com/office/drawing/2014/main" id="{850C6505-AE63-4168-BD88-D7019746337D}"/>
              </a:ext>
            </a:extLst>
          </p:cNvPr>
          <p:cNvSpPr>
            <a:spLocks noGrp="1"/>
          </p:cNvSpPr>
          <p:nvPr/>
        </p:nvSpPr>
        <p:spPr>
          <a:xfrm>
            <a:off x="6343650" y="299085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60" name="s1-card-4-no-text">
            <a:extLst>
              <a:ext uri="{FF2B5EF4-FFF2-40B4-BE49-F238E27FC236}">
                <a16:creationId xmlns:a16="http://schemas.microsoft.com/office/drawing/2014/main" id="{DE7596BE-040B-4FB0-AE49-FE8409B00A59}"/>
              </a:ext>
            </a:extLst>
          </p:cNvPr>
          <p:cNvSpPr>
            <a:spLocks noGrp="1"/>
          </p:cNvSpPr>
          <p:nvPr/>
        </p:nvSpPr>
        <p:spPr>
          <a:xfrm>
            <a:off x="6343650" y="299085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1" name="s1-card-4-image-frame">
            <a:extLst>
              <a:ext uri="{FF2B5EF4-FFF2-40B4-BE49-F238E27FC236}">
                <a16:creationId xmlns:a16="http://schemas.microsoft.com/office/drawing/2014/main" id="{0CFE4C6A-2C5D-4D75-94E9-C3DB5B74906C}"/>
              </a:ext>
            </a:extLst>
          </p:cNvPr>
          <p:cNvSpPr>
            <a:spLocks noGrp="1"/>
          </p:cNvSpPr>
          <p:nvPr/>
        </p:nvSpPr>
        <p:spPr>
          <a:xfrm>
            <a:off x="6324600" y="3228975"/>
            <a:ext cx="20383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157" name="그림 15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44708" y="3248025"/>
            <a:ext cx="1998133" cy="1123950"/>
          </a:xfrm>
          <a:prstGeom prst="roundRect">
            <a:avLst>
              <a:gd name="adj" fmla="val 6780"/>
            </a:avLst>
          </a:prstGeom>
        </p:spPr>
      </p:pic>
      <p:sp>
        <p:nvSpPr>
          <p:cNvPr id="63" name="s1-card-4-name">
            <a:extLst>
              <a:ext uri="{FF2B5EF4-FFF2-40B4-BE49-F238E27FC236}">
                <a16:creationId xmlns:a16="http://schemas.microsoft.com/office/drawing/2014/main" id="{335A1786-1681-47A5-8F17-D17856D6BA33}"/>
              </a:ext>
            </a:extLst>
          </p:cNvPr>
          <p:cNvSpPr>
            <a:spLocks noGrp="1"/>
          </p:cNvSpPr>
          <p:nvPr/>
        </p:nvSpPr>
        <p:spPr>
          <a:xfrm>
            <a:off x="8534400" y="300037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생산관리</a:t>
            </a:r>
          </a:p>
        </p:txBody>
      </p:sp>
      <p:sp>
        <p:nvSpPr>
          <p:cNvPr id="64" name="s1-card-4-headline">
            <a:extLst>
              <a:ext uri="{FF2B5EF4-FFF2-40B4-BE49-F238E27FC236}">
                <a16:creationId xmlns:a16="http://schemas.microsoft.com/office/drawing/2014/main" id="{7B314B8D-F490-49A2-A25C-869E74232E10}"/>
              </a:ext>
            </a:extLst>
          </p:cNvPr>
          <p:cNvSpPr>
            <a:spLocks noGrp="1"/>
          </p:cNvSpPr>
          <p:nvPr/>
        </p:nvSpPr>
        <p:spPr>
          <a:xfrm>
            <a:off x="8534400" y="3314700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계획과 실적을 한 흐름으로</a:t>
            </a:r>
          </a:p>
        </p:txBody>
      </p:sp>
      <p:sp>
        <p:nvSpPr>
          <p:cNvPr id="65" name="s1-card-4-intro">
            <a:extLst>
              <a:ext uri="{FF2B5EF4-FFF2-40B4-BE49-F238E27FC236}">
                <a16:creationId xmlns:a16="http://schemas.microsoft.com/office/drawing/2014/main" id="{B1C12F1F-41D3-4BCD-B406-68E4F86C0EE9}"/>
              </a:ext>
            </a:extLst>
          </p:cNvPr>
          <p:cNvSpPr>
            <a:spLocks noGrp="1"/>
          </p:cNvSpPr>
          <p:nvPr/>
        </p:nvSpPr>
        <p:spPr>
          <a:xfrm>
            <a:off x="8534400" y="3590925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생산계획 리비전과 라인별 택타임·병목 정보를 함께 확인합니다.</a:t>
            </a:r>
          </a:p>
        </p:txBody>
      </p:sp>
      <p:sp>
        <p:nvSpPr>
          <p:cNvPr id="66" name="s1-card-4-rule">
            <a:extLst>
              <a:ext uri="{FF2B5EF4-FFF2-40B4-BE49-F238E27FC236}">
                <a16:creationId xmlns:a16="http://schemas.microsoft.com/office/drawing/2014/main" id="{FDD752E6-463A-4FDF-ACBE-9E5E5AE3491A}"/>
              </a:ext>
            </a:extLst>
          </p:cNvPr>
          <p:cNvSpPr>
            <a:spLocks noGrp="1"/>
          </p:cNvSpPr>
          <p:nvPr/>
        </p:nvSpPr>
        <p:spPr>
          <a:xfrm>
            <a:off x="8534400" y="4038600"/>
            <a:ext cx="2952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68" name="s1-card-4-cta">
            <a:extLst>
              <a:ext uri="{FF2B5EF4-FFF2-40B4-BE49-F238E27FC236}">
                <a16:creationId xmlns:a16="http://schemas.microsoft.com/office/drawing/2014/main" id="{7BF60905-2E68-4E23-9E08-AFACF31B9424}"/>
              </a:ext>
            </a:extLst>
          </p:cNvPr>
          <p:cNvSpPr>
            <a:spLocks noGrp="1"/>
          </p:cNvSpPr>
          <p:nvPr/>
        </p:nvSpPr>
        <p:spPr>
          <a:xfrm>
            <a:off x="10439400" y="414337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메뉴 상세 →</a:t>
            </a:r>
          </a:p>
        </p:txBody>
      </p:sp>
      <p:sp>
        <p:nvSpPr>
          <p:cNvPr id="69" name="s1-card-5-bg">
            <a:extLst>
              <a:ext uri="{FF2B5EF4-FFF2-40B4-BE49-F238E27FC236}">
                <a16:creationId xmlns:a16="http://schemas.microsoft.com/office/drawing/2014/main" id="{693628EB-6E18-43CA-B538-9DEA3EF2DAA3}"/>
              </a:ext>
            </a:extLst>
          </p:cNvPr>
          <p:cNvSpPr>
            <a:spLocks noGrp="1"/>
          </p:cNvSpPr>
          <p:nvPr/>
        </p:nvSpPr>
        <p:spPr>
          <a:xfrm>
            <a:off x="419100" y="4533900"/>
            <a:ext cx="5600700" cy="161925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70" name="s1-card-5-rail">
            <a:extLst>
              <a:ext uri="{FF2B5EF4-FFF2-40B4-BE49-F238E27FC236}">
                <a16:creationId xmlns:a16="http://schemas.microsoft.com/office/drawing/2014/main" id="{EDF60864-151D-4EF1-837D-B8BE7682A5B2}"/>
              </a:ext>
            </a:extLst>
          </p:cNvPr>
          <p:cNvSpPr>
            <a:spLocks noGrp="1"/>
          </p:cNvSpPr>
          <p:nvPr/>
        </p:nvSpPr>
        <p:spPr>
          <a:xfrm>
            <a:off x="419100" y="45339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71" name="s1-card-5-no-bg">
            <a:extLst>
              <a:ext uri="{FF2B5EF4-FFF2-40B4-BE49-F238E27FC236}">
                <a16:creationId xmlns:a16="http://schemas.microsoft.com/office/drawing/2014/main" id="{8DBA4A76-6C11-44D3-8A62-A14D4CBADF40}"/>
              </a:ext>
            </a:extLst>
          </p:cNvPr>
          <p:cNvSpPr>
            <a:spLocks noGrp="1"/>
          </p:cNvSpPr>
          <p:nvPr/>
        </p:nvSpPr>
        <p:spPr>
          <a:xfrm>
            <a:off x="590550" y="468630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72" name="s1-card-5-no-text">
            <a:extLst>
              <a:ext uri="{FF2B5EF4-FFF2-40B4-BE49-F238E27FC236}">
                <a16:creationId xmlns:a16="http://schemas.microsoft.com/office/drawing/2014/main" id="{3B5C18D8-F653-47E7-811C-80E4B791C508}"/>
              </a:ext>
            </a:extLst>
          </p:cNvPr>
          <p:cNvSpPr>
            <a:spLocks noGrp="1"/>
          </p:cNvSpPr>
          <p:nvPr/>
        </p:nvSpPr>
        <p:spPr>
          <a:xfrm>
            <a:off x="590550" y="46863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3" name="s1-card-5-image-frame">
            <a:extLst>
              <a:ext uri="{FF2B5EF4-FFF2-40B4-BE49-F238E27FC236}">
                <a16:creationId xmlns:a16="http://schemas.microsoft.com/office/drawing/2014/main" id="{7418DB62-8A04-49E1-9FAD-C8D1DA83E3CD}"/>
              </a:ext>
            </a:extLst>
          </p:cNvPr>
          <p:cNvSpPr>
            <a:spLocks noGrp="1"/>
          </p:cNvSpPr>
          <p:nvPr/>
        </p:nvSpPr>
        <p:spPr>
          <a:xfrm>
            <a:off x="571500" y="4924425"/>
            <a:ext cx="20383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91608" y="4943475"/>
            <a:ext cx="1998133" cy="1123950"/>
          </a:xfrm>
          <a:prstGeom prst="roundRect">
            <a:avLst>
              <a:gd name="adj" fmla="val 6780"/>
            </a:avLst>
          </a:prstGeom>
        </p:spPr>
      </p:pic>
      <p:sp>
        <p:nvSpPr>
          <p:cNvPr id="75" name="s1-card-5-name">
            <a:extLst>
              <a:ext uri="{FF2B5EF4-FFF2-40B4-BE49-F238E27FC236}">
                <a16:creationId xmlns:a16="http://schemas.microsoft.com/office/drawing/2014/main" id="{4E5B4104-012C-430F-A18F-DDE53FFD6BB6}"/>
              </a:ext>
            </a:extLst>
          </p:cNvPr>
          <p:cNvSpPr>
            <a:spLocks noGrp="1"/>
          </p:cNvSpPr>
          <p:nvPr/>
        </p:nvSpPr>
        <p:spPr>
          <a:xfrm>
            <a:off x="2781300" y="469582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작업관리</a:t>
            </a:r>
          </a:p>
        </p:txBody>
      </p:sp>
      <p:sp>
        <p:nvSpPr>
          <p:cNvPr id="76" name="s1-card-5-headline">
            <a:extLst>
              <a:ext uri="{FF2B5EF4-FFF2-40B4-BE49-F238E27FC236}">
                <a16:creationId xmlns:a16="http://schemas.microsoft.com/office/drawing/2014/main" id="{8DA3ED52-9FC9-48C0-901B-4148D1DB8021}"/>
              </a:ext>
            </a:extLst>
          </p:cNvPr>
          <p:cNvSpPr>
            <a:spLocks noGrp="1"/>
          </p:cNvSpPr>
          <p:nvPr/>
        </p:nvSpPr>
        <p:spPr>
          <a:xfrm>
            <a:off x="2781300" y="5010150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현장을 읽는 Physical AI</a:t>
            </a:r>
          </a:p>
        </p:txBody>
      </p:sp>
      <p:sp>
        <p:nvSpPr>
          <p:cNvPr id="77" name="s1-card-5-intro">
            <a:extLst>
              <a:ext uri="{FF2B5EF4-FFF2-40B4-BE49-F238E27FC236}">
                <a16:creationId xmlns:a16="http://schemas.microsoft.com/office/drawing/2014/main" id="{FFCEF07E-CF23-41B9-8202-D034A3FD4FFF}"/>
              </a:ext>
            </a:extLst>
          </p:cNvPr>
          <p:cNvSpPr>
            <a:spLocks noGrp="1"/>
          </p:cNvSpPr>
          <p:nvPr/>
        </p:nvSpPr>
        <p:spPr>
          <a:xfrm>
            <a:off x="2781300" y="5286375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작업 영상과 안전 감지 로그를 결합해 현장 위험 징후를 시각화합니다.</a:t>
            </a:r>
          </a:p>
        </p:txBody>
      </p:sp>
      <p:sp>
        <p:nvSpPr>
          <p:cNvPr id="78" name="s1-card-5-rule">
            <a:extLst>
              <a:ext uri="{FF2B5EF4-FFF2-40B4-BE49-F238E27FC236}">
                <a16:creationId xmlns:a16="http://schemas.microsoft.com/office/drawing/2014/main" id="{396418DC-5AB5-4926-973D-87A9A9D5CE7B}"/>
              </a:ext>
            </a:extLst>
          </p:cNvPr>
          <p:cNvSpPr>
            <a:spLocks noGrp="1"/>
          </p:cNvSpPr>
          <p:nvPr/>
        </p:nvSpPr>
        <p:spPr>
          <a:xfrm>
            <a:off x="2781300" y="5734050"/>
            <a:ext cx="2952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80" name="s1-card-5-cta">
            <a:extLst>
              <a:ext uri="{FF2B5EF4-FFF2-40B4-BE49-F238E27FC236}">
                <a16:creationId xmlns:a16="http://schemas.microsoft.com/office/drawing/2014/main" id="{2A338490-9055-4C79-9FEA-A322B553EF7F}"/>
              </a:ext>
            </a:extLst>
          </p:cNvPr>
          <p:cNvSpPr>
            <a:spLocks noGrp="1"/>
          </p:cNvSpPr>
          <p:nvPr/>
        </p:nvSpPr>
        <p:spPr>
          <a:xfrm>
            <a:off x="4686300" y="583882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메뉴 상세 →</a:t>
            </a:r>
          </a:p>
        </p:txBody>
      </p:sp>
      <p:sp>
        <p:nvSpPr>
          <p:cNvPr id="81" name="s1-card-6-bg">
            <a:extLst>
              <a:ext uri="{FF2B5EF4-FFF2-40B4-BE49-F238E27FC236}">
                <a16:creationId xmlns:a16="http://schemas.microsoft.com/office/drawing/2014/main" id="{085B9F2F-065F-47C3-B74C-A87F4A391477}"/>
              </a:ext>
            </a:extLst>
          </p:cNvPr>
          <p:cNvSpPr>
            <a:spLocks noGrp="1"/>
          </p:cNvSpPr>
          <p:nvPr/>
        </p:nvSpPr>
        <p:spPr>
          <a:xfrm>
            <a:off x="6172200" y="4533900"/>
            <a:ext cx="5600700" cy="161925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82" name="s1-card-6-rail">
            <a:extLst>
              <a:ext uri="{FF2B5EF4-FFF2-40B4-BE49-F238E27FC236}">
                <a16:creationId xmlns:a16="http://schemas.microsoft.com/office/drawing/2014/main" id="{A986F747-01B3-4206-906F-250DBD23DFDC}"/>
              </a:ext>
            </a:extLst>
          </p:cNvPr>
          <p:cNvSpPr>
            <a:spLocks noGrp="1"/>
          </p:cNvSpPr>
          <p:nvPr/>
        </p:nvSpPr>
        <p:spPr>
          <a:xfrm>
            <a:off x="6172200" y="45339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83" name="s1-card-6-no-bg">
            <a:extLst>
              <a:ext uri="{FF2B5EF4-FFF2-40B4-BE49-F238E27FC236}">
                <a16:creationId xmlns:a16="http://schemas.microsoft.com/office/drawing/2014/main" id="{1E01A410-E2E3-472B-B4F0-0A3FABB1B334}"/>
              </a:ext>
            </a:extLst>
          </p:cNvPr>
          <p:cNvSpPr>
            <a:spLocks noGrp="1"/>
          </p:cNvSpPr>
          <p:nvPr/>
        </p:nvSpPr>
        <p:spPr>
          <a:xfrm>
            <a:off x="6343650" y="468630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84" name="s1-card-6-no-text">
            <a:extLst>
              <a:ext uri="{FF2B5EF4-FFF2-40B4-BE49-F238E27FC236}">
                <a16:creationId xmlns:a16="http://schemas.microsoft.com/office/drawing/2014/main" id="{CC5E6668-0928-4582-9746-D8A6DF8A3F08}"/>
              </a:ext>
            </a:extLst>
          </p:cNvPr>
          <p:cNvSpPr>
            <a:spLocks noGrp="1"/>
          </p:cNvSpPr>
          <p:nvPr/>
        </p:nvSpPr>
        <p:spPr>
          <a:xfrm>
            <a:off x="6343650" y="46863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85" name="s1-card-6-image-frame">
            <a:extLst>
              <a:ext uri="{FF2B5EF4-FFF2-40B4-BE49-F238E27FC236}">
                <a16:creationId xmlns:a16="http://schemas.microsoft.com/office/drawing/2014/main" id="{9BE42ED8-66DD-4ED0-8CD2-13FEE3C42F81}"/>
              </a:ext>
            </a:extLst>
          </p:cNvPr>
          <p:cNvSpPr>
            <a:spLocks noGrp="1"/>
          </p:cNvSpPr>
          <p:nvPr/>
        </p:nvSpPr>
        <p:spPr>
          <a:xfrm>
            <a:off x="6324600" y="4924425"/>
            <a:ext cx="20383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181" name="그림 18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44708" y="4943475"/>
            <a:ext cx="1998133" cy="1123950"/>
          </a:xfrm>
          <a:prstGeom prst="roundRect">
            <a:avLst>
              <a:gd name="adj" fmla="val 6780"/>
            </a:avLst>
          </a:prstGeom>
        </p:spPr>
      </p:pic>
      <p:sp>
        <p:nvSpPr>
          <p:cNvPr id="87" name="s1-card-6-name">
            <a:extLst>
              <a:ext uri="{FF2B5EF4-FFF2-40B4-BE49-F238E27FC236}">
                <a16:creationId xmlns:a16="http://schemas.microsoft.com/office/drawing/2014/main" id="{6B6F6983-1F73-4D17-B2EF-7BB6BD7F3831}"/>
              </a:ext>
            </a:extLst>
          </p:cNvPr>
          <p:cNvSpPr>
            <a:spLocks noGrp="1"/>
          </p:cNvSpPr>
          <p:nvPr/>
        </p:nvSpPr>
        <p:spPr>
          <a:xfrm>
            <a:off x="8534400" y="469582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5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출하관리</a:t>
            </a:r>
          </a:p>
        </p:txBody>
      </p:sp>
      <p:sp>
        <p:nvSpPr>
          <p:cNvPr id="88" name="s1-card-6-headline">
            <a:extLst>
              <a:ext uri="{FF2B5EF4-FFF2-40B4-BE49-F238E27FC236}">
                <a16:creationId xmlns:a16="http://schemas.microsoft.com/office/drawing/2014/main" id="{BCA4EA8F-3E54-45C7-83AE-50A08A203DA1}"/>
              </a:ext>
            </a:extLst>
          </p:cNvPr>
          <p:cNvSpPr>
            <a:spLocks noGrp="1"/>
          </p:cNvSpPr>
          <p:nvPr/>
        </p:nvSpPr>
        <p:spPr>
          <a:xfrm>
            <a:off x="8534400" y="5010150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창고에서 납품까지 연결</a:t>
            </a:r>
          </a:p>
        </p:txBody>
      </p:sp>
      <p:sp>
        <p:nvSpPr>
          <p:cNvPr id="89" name="s1-card-6-intro">
            <a:extLst>
              <a:ext uri="{FF2B5EF4-FFF2-40B4-BE49-F238E27FC236}">
                <a16:creationId xmlns:a16="http://schemas.microsoft.com/office/drawing/2014/main" id="{EE4A663B-A137-44CD-9CDC-99E3ABC50409}"/>
              </a:ext>
            </a:extLst>
          </p:cNvPr>
          <p:cNvSpPr>
            <a:spLocks noGrp="1"/>
          </p:cNvSpPr>
          <p:nvPr/>
        </p:nvSpPr>
        <p:spPr>
          <a:xfrm>
            <a:off x="8534400" y="5286375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03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차량 이동, 창고 슬롯, 출하 지표를 하나의 운영 흐름으로 확인합니다.</a:t>
            </a:r>
          </a:p>
        </p:txBody>
      </p:sp>
      <p:sp>
        <p:nvSpPr>
          <p:cNvPr id="90" name="s1-card-6-rule">
            <a:extLst>
              <a:ext uri="{FF2B5EF4-FFF2-40B4-BE49-F238E27FC236}">
                <a16:creationId xmlns:a16="http://schemas.microsoft.com/office/drawing/2014/main" id="{36403957-3E4C-4E4B-BBE9-1B136E809FE4}"/>
              </a:ext>
            </a:extLst>
          </p:cNvPr>
          <p:cNvSpPr>
            <a:spLocks noGrp="1"/>
          </p:cNvSpPr>
          <p:nvPr/>
        </p:nvSpPr>
        <p:spPr>
          <a:xfrm>
            <a:off x="8534400" y="5734050"/>
            <a:ext cx="2952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92" name="s1-card-6-cta">
            <a:extLst>
              <a:ext uri="{FF2B5EF4-FFF2-40B4-BE49-F238E27FC236}">
                <a16:creationId xmlns:a16="http://schemas.microsoft.com/office/drawing/2014/main" id="{4CB9B71D-C7D3-4FDA-8C84-06936A6CC43B}"/>
              </a:ext>
            </a:extLst>
          </p:cNvPr>
          <p:cNvSpPr>
            <a:spLocks noGrp="1"/>
          </p:cNvSpPr>
          <p:nvPr/>
        </p:nvSpPr>
        <p:spPr>
          <a:xfrm>
            <a:off x="10439400" y="5838825"/>
            <a:ext cx="104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메뉴 상세 →</a:t>
            </a:r>
          </a:p>
        </p:txBody>
      </p:sp>
      <p:sp>
        <p:nvSpPr>
          <p:cNvPr id="93" name="s1-footer-line">
            <a:extLst>
              <a:ext uri="{FF2B5EF4-FFF2-40B4-BE49-F238E27FC236}">
                <a16:creationId xmlns:a16="http://schemas.microsoft.com/office/drawing/2014/main" id="{53E22817-2C46-48C9-B4E9-55AFBEAA54E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94" name="s1-footer-brand">
            <a:extLst>
              <a:ext uri="{FF2B5EF4-FFF2-40B4-BE49-F238E27FC236}">
                <a16:creationId xmlns:a16="http://schemas.microsoft.com/office/drawing/2014/main" id="{8F10D159-1299-4E2F-A990-C31E33349213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95" name="s1-footer-note">
            <a:extLst>
              <a:ext uri="{FF2B5EF4-FFF2-40B4-BE49-F238E27FC236}">
                <a16:creationId xmlns:a16="http://schemas.microsoft.com/office/drawing/2014/main" id="{9B4FDA44-0D92-489F-BEAA-BC1174289C4C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상위 메뉴 6종 · 하위 페이지 17종</a:t>
            </a:r>
          </a:p>
        </p:txBody>
      </p:sp>
      <p:sp>
        <p:nvSpPr>
          <p:cNvPr id="96" name="s1-footer-page">
            <a:extLst>
              <a:ext uri="{FF2B5EF4-FFF2-40B4-BE49-F238E27FC236}">
                <a16:creationId xmlns:a16="http://schemas.microsoft.com/office/drawing/2014/main" id="{6CC6DEA5-71FD-4A5F-9DF0-8D974267D866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159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header">
            <a:extLst>
              <a:ext uri="{FF2B5EF4-FFF2-40B4-BE49-F238E27FC236}">
                <a16:creationId xmlns:a16="http://schemas.microsoft.com/office/drawing/2014/main" id="{2F3FDB59-EF98-47C3-80F9-17ADF1468D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2-header-accent">
            <a:extLst>
              <a:ext uri="{FF2B5EF4-FFF2-40B4-BE49-F238E27FC236}">
                <a16:creationId xmlns:a16="http://schemas.microsoft.com/office/drawing/2014/main" id="{04E5B7F3-495C-475B-8994-4ED77E40DF55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2-eyebrow">
            <a:extLst>
              <a:ext uri="{FF2B5EF4-FFF2-40B4-BE49-F238E27FC236}">
                <a16:creationId xmlns:a16="http://schemas.microsoft.com/office/drawing/2014/main" id="{2987B9A7-CAF8-402D-99CB-7660D7C4E5CA}"/>
              </a:ext>
            </a:extLst>
          </p:cNvPr>
          <p:cNvSpPr>
            <a:spLocks noGrp="1"/>
          </p:cNvSpPr>
          <p:nvPr/>
        </p:nvSpPr>
        <p:spPr>
          <a:xfrm>
            <a:off x="419100" y="180975"/>
            <a:ext cx="3429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 · 01</a:t>
            </a:r>
          </a:p>
        </p:txBody>
      </p:sp>
      <p:sp>
        <p:nvSpPr>
          <p:cNvPr id="5" name="s2-title">
            <a:extLst>
              <a:ext uri="{FF2B5EF4-FFF2-40B4-BE49-F238E27FC236}">
                <a16:creationId xmlns:a16="http://schemas.microsoft.com/office/drawing/2014/main" id="{7A21A80F-79A8-48A3-8D41-635D08C94C6C}"/>
              </a:ext>
            </a:extLst>
          </p:cNvPr>
          <p:cNvSpPr>
            <a:spLocks noGrp="1"/>
          </p:cNvSpPr>
          <p:nvPr/>
        </p:nvSpPr>
        <p:spPr>
          <a:xfrm>
            <a:off x="419100" y="333375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자재관리</a:t>
            </a:r>
          </a:p>
        </p:txBody>
      </p:sp>
      <p:sp>
        <p:nvSpPr>
          <p:cNvPr id="6" name="s2-headline">
            <a:extLst>
              <a:ext uri="{FF2B5EF4-FFF2-40B4-BE49-F238E27FC236}">
                <a16:creationId xmlns:a16="http://schemas.microsoft.com/office/drawing/2014/main" id="{C6139123-8AB6-44E9-BCD4-F1F37FADEFC5}"/>
              </a:ext>
            </a:extLst>
          </p:cNvPr>
          <p:cNvSpPr>
            <a:spLocks noGrp="1"/>
          </p:cNvSpPr>
          <p:nvPr/>
        </p:nvSpPr>
        <p:spPr>
          <a:xfrm>
            <a:off x="3429000" y="266700"/>
            <a:ext cx="514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입고부터 공정 투입까지</a:t>
            </a:r>
          </a:p>
        </p:txBody>
      </p:sp>
      <p:sp>
        <p:nvSpPr>
          <p:cNvPr id="7" name="s2-intro">
            <a:extLst>
              <a:ext uri="{FF2B5EF4-FFF2-40B4-BE49-F238E27FC236}">
                <a16:creationId xmlns:a16="http://schemas.microsoft.com/office/drawing/2014/main" id="{442DDB97-E125-4C66-9DDC-B14B803BEA12}"/>
              </a:ext>
            </a:extLst>
          </p:cNvPr>
          <p:cNvSpPr>
            <a:spLocks noGrp="1"/>
          </p:cNvSpPr>
          <p:nvPr/>
        </p:nvSpPr>
        <p:spPr>
          <a:xfrm>
            <a:off x="3238500" y="5524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차량·검수·창고·공정재고를 하나의 자재 흐름으로 확인합니다.</a:t>
            </a:r>
          </a:p>
        </p:txBody>
      </p:sp>
      <p:sp>
        <p:nvSpPr>
          <p:cNvPr id="8" name="s2-count">
            <a:extLst>
              <a:ext uri="{FF2B5EF4-FFF2-40B4-BE49-F238E27FC236}">
                <a16:creationId xmlns:a16="http://schemas.microsoft.com/office/drawing/2014/main" id="{C47E604B-F18A-4E81-B9BE-8E8694D32173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9" name="s2-count-label">
            <a:extLst>
              <a:ext uri="{FF2B5EF4-FFF2-40B4-BE49-F238E27FC236}">
                <a16:creationId xmlns:a16="http://schemas.microsoft.com/office/drawing/2014/main" id="{032F9951-92D4-4ED4-B4D9-20E4AD126C00}"/>
              </a:ext>
            </a:extLst>
          </p:cNvPr>
          <p:cNvSpPr>
            <a:spLocks noGrp="1"/>
          </p:cNvSpPr>
          <p:nvPr/>
        </p:nvSpPr>
        <p:spPr>
          <a:xfrm>
            <a:off x="10001250" y="628650"/>
            <a:ext cx="1047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SUB PAGES</a:t>
            </a:r>
          </a:p>
        </p:txBody>
      </p:sp>
      <p:sp>
        <p:nvSpPr>
          <p:cNvPr id="10" name="s2-hero-bg">
            <a:extLst>
              <a:ext uri="{FF2B5EF4-FFF2-40B4-BE49-F238E27FC236}">
                <a16:creationId xmlns:a16="http://schemas.microsoft.com/office/drawing/2014/main" id="{F1F6E9B5-0E85-421F-B821-0909557DCC08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4476750" cy="516255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1" name="s2-hero-key-bg">
            <a:extLst>
              <a:ext uri="{FF2B5EF4-FFF2-40B4-BE49-F238E27FC236}">
                <a16:creationId xmlns:a16="http://schemas.microsoft.com/office/drawing/2014/main" id="{214BAF53-3423-48AD-AFE9-E8E1E93FD1F0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68580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2" name="s2-hero-key-text">
            <a:extLst>
              <a:ext uri="{FF2B5EF4-FFF2-40B4-BE49-F238E27FC236}">
                <a16:creationId xmlns:a16="http://schemas.microsoft.com/office/drawing/2014/main" id="{03DDD560-6E34-4032-8E1F-675CE89ACE2E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KEY PAGE</a:t>
            </a:r>
          </a:p>
        </p:txBody>
      </p:sp>
      <p:sp>
        <p:nvSpPr>
          <p:cNvPr id="13" name="s2-hero-image-frame">
            <a:extLst>
              <a:ext uri="{FF2B5EF4-FFF2-40B4-BE49-F238E27FC236}">
                <a16:creationId xmlns:a16="http://schemas.microsoft.com/office/drawing/2014/main" id="{15704AC5-43E7-4A59-9DB6-84F196FCE540}"/>
              </a:ext>
            </a:extLst>
          </p:cNvPr>
          <p:cNvSpPr>
            <a:spLocks noGrp="1"/>
          </p:cNvSpPr>
          <p:nvPr/>
        </p:nvSpPr>
        <p:spPr>
          <a:xfrm>
            <a:off x="571500" y="1581150"/>
            <a:ext cx="4171950" cy="2362200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1608" y="1600200"/>
            <a:ext cx="4131733" cy="2324100"/>
          </a:xfrm>
          <a:prstGeom prst="roundRect">
            <a:avLst>
              <a:gd name="adj" fmla="val 3689"/>
            </a:avLst>
          </a:prstGeom>
        </p:spPr>
      </p:pic>
      <p:sp>
        <p:nvSpPr>
          <p:cNvPr id="15" name="s2-hero-title">
            <a:extLst>
              <a:ext uri="{FF2B5EF4-FFF2-40B4-BE49-F238E27FC236}">
                <a16:creationId xmlns:a16="http://schemas.microsoft.com/office/drawing/2014/main" id="{44D99F64-32A4-4375-9E98-5E1B4FD10784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413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80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입고검사</a:t>
            </a:r>
          </a:p>
        </p:txBody>
      </p:sp>
      <p:sp>
        <p:nvSpPr>
          <p:cNvPr id="16" name="s2-hero-summary">
            <a:extLst>
              <a:ext uri="{FF2B5EF4-FFF2-40B4-BE49-F238E27FC236}">
                <a16:creationId xmlns:a16="http://schemas.microsoft.com/office/drawing/2014/main" id="{56CAB186-6DCD-4BE7-8DEB-7A68E1D20F5E}"/>
              </a:ext>
            </a:extLst>
          </p:cNvPr>
          <p:cNvSpPr>
            <a:spLocks noGrp="1"/>
          </p:cNvSpPr>
          <p:nvPr/>
        </p:nvSpPr>
        <p:spPr>
          <a:xfrm>
            <a:off x="590550" y="4419600"/>
            <a:ext cx="4133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93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93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입고 차량, 대기 목록, 입출차 현황과 6개 검수 카메라를 통합 모니터링합니다.</a:t>
            </a:r>
          </a:p>
        </p:txBody>
      </p:sp>
      <p:sp>
        <p:nvSpPr>
          <p:cNvPr id="17" name="s2-hero-route">
            <a:extLst>
              <a:ext uri="{FF2B5EF4-FFF2-40B4-BE49-F238E27FC236}">
                <a16:creationId xmlns:a16="http://schemas.microsoft.com/office/drawing/2014/main" id="{A4B8F2B0-1AB5-4D21-ABE1-C05F467D9957}"/>
              </a:ext>
            </a:extLst>
          </p:cNvPr>
          <p:cNvSpPr>
            <a:spLocks noGrp="1"/>
          </p:cNvSpPr>
          <p:nvPr/>
        </p:nvSpPr>
        <p:spPr>
          <a:xfrm>
            <a:off x="590550" y="5029200"/>
            <a:ext cx="41338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7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7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/material/inbound-inspection</a:t>
            </a:r>
          </a:p>
        </p:txBody>
      </p:sp>
      <p:sp>
        <p:nvSpPr>
          <p:cNvPr id="18" name="s2-flow-box">
            <a:extLst>
              <a:ext uri="{FF2B5EF4-FFF2-40B4-BE49-F238E27FC236}">
                <a16:creationId xmlns:a16="http://schemas.microsoft.com/office/drawing/2014/main" id="{799615D5-4C15-43E0-BCA3-401FD85180DF}"/>
              </a:ext>
            </a:extLst>
          </p:cNvPr>
          <p:cNvSpPr>
            <a:spLocks noGrp="1"/>
          </p:cNvSpPr>
          <p:nvPr/>
        </p:nvSpPr>
        <p:spPr>
          <a:xfrm>
            <a:off x="590550" y="5505450"/>
            <a:ext cx="4133850" cy="552450"/>
          </a:xfrm>
          <a:prstGeom prst="roundRect">
            <a:avLst>
              <a:gd name="adj" fmla="val 15517"/>
            </a:avLst>
          </a:prstGeom>
          <a:solidFill>
            <a:srgbClr val="F3F7FD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9" name="s2-flow-title">
            <a:extLst>
              <a:ext uri="{FF2B5EF4-FFF2-40B4-BE49-F238E27FC236}">
                <a16:creationId xmlns:a16="http://schemas.microsoft.com/office/drawing/2014/main" id="{50FE9210-F480-49B0-94B6-185DB318F76B}"/>
              </a:ext>
            </a:extLst>
          </p:cNvPr>
          <p:cNvSpPr>
            <a:spLocks noGrp="1"/>
          </p:cNvSpPr>
          <p:nvPr/>
        </p:nvSpPr>
        <p:spPr>
          <a:xfrm>
            <a:off x="742950" y="5610225"/>
            <a:ext cx="685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자재 흐름</a:t>
            </a:r>
          </a:p>
        </p:txBody>
      </p:sp>
      <p:sp>
        <p:nvSpPr>
          <p:cNvPr id="20" name="s2-flow-text">
            <a:extLst>
              <a:ext uri="{FF2B5EF4-FFF2-40B4-BE49-F238E27FC236}">
                <a16:creationId xmlns:a16="http://schemas.microsoft.com/office/drawing/2014/main" id="{07599585-70DB-4B93-BE1F-220C1061A2B3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입고 → 검수 → 창고 → 공정 투입</a:t>
            </a:r>
          </a:p>
        </p:txBody>
      </p:sp>
      <p:sp>
        <p:nvSpPr>
          <p:cNvPr id="21" name="s2-card-1-bg">
            <a:extLst>
              <a:ext uri="{FF2B5EF4-FFF2-40B4-BE49-F238E27FC236}">
                <a16:creationId xmlns:a16="http://schemas.microsoft.com/office/drawing/2014/main" id="{0703040D-E11E-4AA5-84ED-8DD77EC32498}"/>
              </a:ext>
            </a:extLst>
          </p:cNvPr>
          <p:cNvSpPr>
            <a:spLocks noGrp="1"/>
          </p:cNvSpPr>
          <p:nvPr/>
        </p:nvSpPr>
        <p:spPr>
          <a:xfrm>
            <a:off x="5105400" y="1123950"/>
            <a:ext cx="3124200" cy="242887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2" name="s2-card-1-image-frame">
            <a:extLst>
              <a:ext uri="{FF2B5EF4-FFF2-40B4-BE49-F238E27FC236}">
                <a16:creationId xmlns:a16="http://schemas.microsoft.com/office/drawing/2014/main" id="{0CA5CFCB-D77F-4069-B09C-C60B08D7BCCE}"/>
              </a:ext>
            </a:extLst>
          </p:cNvPr>
          <p:cNvSpPr>
            <a:spLocks noGrp="1"/>
          </p:cNvSpPr>
          <p:nvPr/>
        </p:nvSpPr>
        <p:spPr>
          <a:xfrm>
            <a:off x="5219700" y="1238250"/>
            <a:ext cx="2895600" cy="1647825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0" y="1258491"/>
            <a:ext cx="2857500" cy="1607344"/>
          </a:xfrm>
          <a:prstGeom prst="roundRect">
            <a:avLst>
              <a:gd name="adj" fmla="val 4734"/>
            </a:avLst>
          </a:prstGeom>
        </p:spPr>
      </p:pic>
      <p:sp>
        <p:nvSpPr>
          <p:cNvPr id="24" name="s2-card-1-title">
            <a:extLst>
              <a:ext uri="{FF2B5EF4-FFF2-40B4-BE49-F238E27FC236}">
                <a16:creationId xmlns:a16="http://schemas.microsoft.com/office/drawing/2014/main" id="{688504E4-CA06-4D03-9CE4-E3D2A15A1B0F}"/>
              </a:ext>
            </a:extLst>
          </p:cNvPr>
          <p:cNvSpPr>
            <a:spLocks noGrp="1"/>
          </p:cNvSpPr>
          <p:nvPr/>
        </p:nvSpPr>
        <p:spPr>
          <a:xfrm>
            <a:off x="5257800" y="2971800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입고검사현황</a:t>
            </a:r>
          </a:p>
        </p:txBody>
      </p:sp>
      <p:sp>
        <p:nvSpPr>
          <p:cNvPr id="25" name="s2-card-1-summary">
            <a:extLst>
              <a:ext uri="{FF2B5EF4-FFF2-40B4-BE49-F238E27FC236}">
                <a16:creationId xmlns:a16="http://schemas.microsoft.com/office/drawing/2014/main" id="{5CD4CD68-433C-4E3F-8B43-0B17DEDC7F7D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2819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일·주·월·연간 기준으로 검수량, 완료율, 거래처별 상세 현황을 조회합니다.</a:t>
            </a:r>
          </a:p>
        </p:txBody>
      </p:sp>
      <p:sp>
        <p:nvSpPr>
          <p:cNvPr id="26" name="s2-card-2-bg">
            <a:extLst>
              <a:ext uri="{FF2B5EF4-FFF2-40B4-BE49-F238E27FC236}">
                <a16:creationId xmlns:a16="http://schemas.microsoft.com/office/drawing/2014/main" id="{9149974E-64B9-4F62-9E41-47533776D3D8}"/>
              </a:ext>
            </a:extLst>
          </p:cNvPr>
          <p:cNvSpPr>
            <a:spLocks noGrp="1"/>
          </p:cNvSpPr>
          <p:nvPr/>
        </p:nvSpPr>
        <p:spPr>
          <a:xfrm>
            <a:off x="8420100" y="1123950"/>
            <a:ext cx="3124200" cy="242887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7" name="s2-card-2-image-frame">
            <a:extLst>
              <a:ext uri="{FF2B5EF4-FFF2-40B4-BE49-F238E27FC236}">
                <a16:creationId xmlns:a16="http://schemas.microsoft.com/office/drawing/2014/main" id="{509A0784-0F55-4491-9A75-4A8DA172672D}"/>
              </a:ext>
            </a:extLst>
          </p:cNvPr>
          <p:cNvSpPr>
            <a:spLocks noGrp="1"/>
          </p:cNvSpPr>
          <p:nvPr/>
        </p:nvSpPr>
        <p:spPr>
          <a:xfrm>
            <a:off x="8534400" y="1238250"/>
            <a:ext cx="2895600" cy="1647825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97655" y="1257300"/>
            <a:ext cx="769091" cy="1609725"/>
          </a:xfrm>
          <a:prstGeom prst="roundRect">
            <a:avLst>
              <a:gd name="adj" fmla="val 4734"/>
            </a:avLst>
          </a:prstGeom>
        </p:spPr>
      </p:pic>
      <p:sp>
        <p:nvSpPr>
          <p:cNvPr id="29" name="s2-card-2-title">
            <a:extLst>
              <a:ext uri="{FF2B5EF4-FFF2-40B4-BE49-F238E27FC236}">
                <a16:creationId xmlns:a16="http://schemas.microsoft.com/office/drawing/2014/main" id="{E10DA408-B313-400E-AEE3-0ECC7DFDD13D}"/>
              </a:ext>
            </a:extLst>
          </p:cNvPr>
          <p:cNvSpPr>
            <a:spLocks noGrp="1"/>
          </p:cNvSpPr>
          <p:nvPr/>
        </p:nvSpPr>
        <p:spPr>
          <a:xfrm>
            <a:off x="8572500" y="2971800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자재검수</a:t>
            </a:r>
          </a:p>
        </p:txBody>
      </p:sp>
      <p:sp>
        <p:nvSpPr>
          <p:cNvPr id="30" name="s2-card-2-summary">
            <a:extLst>
              <a:ext uri="{FF2B5EF4-FFF2-40B4-BE49-F238E27FC236}">
                <a16:creationId xmlns:a16="http://schemas.microsoft.com/office/drawing/2014/main" id="{6E12F9B7-BE26-448B-96A9-93C6A130D7DA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2819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현장 모바일 카메라와 QR 조준 화면으로 자재 검수 흐름을 지원합니다.</a:t>
            </a:r>
          </a:p>
        </p:txBody>
      </p:sp>
      <p:sp>
        <p:nvSpPr>
          <p:cNvPr id="31" name="s2-card-2-mobile-bg">
            <a:extLst>
              <a:ext uri="{FF2B5EF4-FFF2-40B4-BE49-F238E27FC236}">
                <a16:creationId xmlns:a16="http://schemas.microsoft.com/office/drawing/2014/main" id="{E1B631C1-A885-4787-B8BB-DCB5F27A5F8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552450" cy="1714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BFD8F7"/>
            </a:solidFill>
            <a:prstDash val="solid"/>
          </a:ln>
        </p:spPr>
      </p:sp>
      <p:sp>
        <p:nvSpPr>
          <p:cNvPr id="32" name="s2-card-2-mobile-text">
            <a:extLst>
              <a:ext uri="{FF2B5EF4-FFF2-40B4-BE49-F238E27FC236}">
                <a16:creationId xmlns:a16="http://schemas.microsoft.com/office/drawing/2014/main" id="{C6839D8F-3168-404A-A7D6-2394FF64A9FD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MOBILE</a:t>
            </a:r>
          </a:p>
        </p:txBody>
      </p:sp>
      <p:sp>
        <p:nvSpPr>
          <p:cNvPr id="33" name="s2-card-3-bg">
            <a:extLst>
              <a:ext uri="{FF2B5EF4-FFF2-40B4-BE49-F238E27FC236}">
                <a16:creationId xmlns:a16="http://schemas.microsoft.com/office/drawing/2014/main" id="{8D15828C-1957-41FB-99D0-B5246B3E6CE4}"/>
              </a:ext>
            </a:extLst>
          </p:cNvPr>
          <p:cNvSpPr>
            <a:spLocks noGrp="1"/>
          </p:cNvSpPr>
          <p:nvPr/>
        </p:nvSpPr>
        <p:spPr>
          <a:xfrm>
            <a:off x="5105400" y="3705225"/>
            <a:ext cx="3124200" cy="242887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34" name="s2-card-3-image-frame">
            <a:extLst>
              <a:ext uri="{FF2B5EF4-FFF2-40B4-BE49-F238E27FC236}">
                <a16:creationId xmlns:a16="http://schemas.microsoft.com/office/drawing/2014/main" id="{5FD3676C-BB57-45F9-B647-01FCF6BF1DA8}"/>
              </a:ext>
            </a:extLst>
          </p:cNvPr>
          <p:cNvSpPr>
            <a:spLocks noGrp="1"/>
          </p:cNvSpPr>
          <p:nvPr/>
        </p:nvSpPr>
        <p:spPr>
          <a:xfrm>
            <a:off x="5219700" y="3819525"/>
            <a:ext cx="2895600" cy="1647825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38750" y="3839766"/>
            <a:ext cx="2857500" cy="1607344"/>
          </a:xfrm>
          <a:prstGeom prst="roundRect">
            <a:avLst>
              <a:gd name="adj" fmla="val 4734"/>
            </a:avLst>
          </a:prstGeom>
        </p:spPr>
      </p:pic>
      <p:sp>
        <p:nvSpPr>
          <p:cNvPr id="36" name="s2-card-3-title">
            <a:extLst>
              <a:ext uri="{FF2B5EF4-FFF2-40B4-BE49-F238E27FC236}">
                <a16:creationId xmlns:a16="http://schemas.microsoft.com/office/drawing/2014/main" id="{D1E0D56C-8FF7-4573-A63F-A51CF74890BB}"/>
              </a:ext>
            </a:extLst>
          </p:cNvPr>
          <p:cNvSpPr>
            <a:spLocks noGrp="1"/>
          </p:cNvSpPr>
          <p:nvPr/>
        </p:nvSpPr>
        <p:spPr>
          <a:xfrm>
            <a:off x="5257800" y="555307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자재창고</a:t>
            </a:r>
          </a:p>
        </p:txBody>
      </p:sp>
      <p:sp>
        <p:nvSpPr>
          <p:cNvPr id="37" name="s2-card-3-summary">
            <a:extLst>
              <a:ext uri="{FF2B5EF4-FFF2-40B4-BE49-F238E27FC236}">
                <a16:creationId xmlns:a16="http://schemas.microsoft.com/office/drawing/2014/main" id="{197F79EF-A34A-4033-95AA-C1F3FF5DD203}"/>
              </a:ext>
            </a:extLst>
          </p:cNvPr>
          <p:cNvSpPr>
            <a:spLocks noGrp="1"/>
          </p:cNvSpPr>
          <p:nvPr/>
        </p:nvSpPr>
        <p:spPr>
          <a:xfrm>
            <a:off x="5257800" y="5819775"/>
            <a:ext cx="2819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구역별 점유율·여유 공간과 검수 재고 위치를 배치도와 검색으로 확인합니다.</a:t>
            </a:r>
          </a:p>
        </p:txBody>
      </p:sp>
      <p:sp>
        <p:nvSpPr>
          <p:cNvPr id="38" name="s2-card-4-bg">
            <a:extLst>
              <a:ext uri="{FF2B5EF4-FFF2-40B4-BE49-F238E27FC236}">
                <a16:creationId xmlns:a16="http://schemas.microsoft.com/office/drawing/2014/main" id="{5F7B8083-AF81-4110-9A13-09F681E29B61}"/>
              </a:ext>
            </a:extLst>
          </p:cNvPr>
          <p:cNvSpPr>
            <a:spLocks noGrp="1"/>
          </p:cNvSpPr>
          <p:nvPr/>
        </p:nvSpPr>
        <p:spPr>
          <a:xfrm>
            <a:off x="8420100" y="3705225"/>
            <a:ext cx="3124200" cy="242887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39" name="s2-card-4-image-frame">
            <a:extLst>
              <a:ext uri="{FF2B5EF4-FFF2-40B4-BE49-F238E27FC236}">
                <a16:creationId xmlns:a16="http://schemas.microsoft.com/office/drawing/2014/main" id="{386B6001-EC15-4433-8B7E-FE593AA6B128}"/>
              </a:ext>
            </a:extLst>
          </p:cNvPr>
          <p:cNvSpPr>
            <a:spLocks noGrp="1"/>
          </p:cNvSpPr>
          <p:nvPr/>
        </p:nvSpPr>
        <p:spPr>
          <a:xfrm>
            <a:off x="8534400" y="3819525"/>
            <a:ext cx="2895600" cy="1647825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553450" y="3839766"/>
            <a:ext cx="2857500" cy="1607344"/>
          </a:xfrm>
          <a:prstGeom prst="roundRect">
            <a:avLst>
              <a:gd name="adj" fmla="val 4734"/>
            </a:avLst>
          </a:prstGeom>
        </p:spPr>
      </p:pic>
      <p:sp>
        <p:nvSpPr>
          <p:cNvPr id="41" name="s2-card-4-title">
            <a:extLst>
              <a:ext uri="{FF2B5EF4-FFF2-40B4-BE49-F238E27FC236}">
                <a16:creationId xmlns:a16="http://schemas.microsoft.com/office/drawing/2014/main" id="{A5DB3ADA-CE46-4295-A8CC-98451BB29EA5}"/>
              </a:ext>
            </a:extLst>
          </p:cNvPr>
          <p:cNvSpPr>
            <a:spLocks noGrp="1"/>
          </p:cNvSpPr>
          <p:nvPr/>
        </p:nvSpPr>
        <p:spPr>
          <a:xfrm>
            <a:off x="8572500" y="5553075"/>
            <a:ext cx="1952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27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공정재고</a:t>
            </a:r>
          </a:p>
        </p:txBody>
      </p:sp>
      <p:sp>
        <p:nvSpPr>
          <p:cNvPr id="42" name="s2-card-4-summary">
            <a:extLst>
              <a:ext uri="{FF2B5EF4-FFF2-40B4-BE49-F238E27FC236}">
                <a16:creationId xmlns:a16="http://schemas.microsoft.com/office/drawing/2014/main" id="{24A468DB-DB81-44F5-92A7-AC198CCB58B0}"/>
              </a:ext>
            </a:extLst>
          </p:cNvPr>
          <p:cNvSpPr>
            <a:spLocks noGrp="1"/>
          </p:cNvSpPr>
          <p:nvPr/>
        </p:nvSpPr>
        <p:spPr>
          <a:xfrm>
            <a:off x="8572500" y="5819775"/>
            <a:ext cx="2819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69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작업지시, 생산 진행률, 대차 슬롯 점유와 AI 관제 정보를 함께 보여줍니다.</a:t>
            </a:r>
          </a:p>
        </p:txBody>
      </p:sp>
      <p:sp>
        <p:nvSpPr>
          <p:cNvPr id="43" name="s2-card-4-demo-bg">
            <a:extLst>
              <a:ext uri="{FF2B5EF4-FFF2-40B4-BE49-F238E27FC236}">
                <a16:creationId xmlns:a16="http://schemas.microsoft.com/office/drawing/2014/main" id="{94EAED21-39A6-4BBD-8088-149B03BEF8D4}"/>
              </a:ext>
            </a:extLst>
          </p:cNvPr>
          <p:cNvSpPr>
            <a:spLocks noGrp="1"/>
          </p:cNvSpPr>
          <p:nvPr/>
        </p:nvSpPr>
        <p:spPr>
          <a:xfrm>
            <a:off x="10763250" y="5553075"/>
            <a:ext cx="457200" cy="1714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F2D39C"/>
            </a:solidFill>
            <a:prstDash val="solid"/>
          </a:ln>
        </p:spPr>
      </p:sp>
      <p:sp>
        <p:nvSpPr>
          <p:cNvPr id="44" name="s2-card-4-demo-text">
            <a:extLst>
              <a:ext uri="{FF2B5EF4-FFF2-40B4-BE49-F238E27FC236}">
                <a16:creationId xmlns:a16="http://schemas.microsoft.com/office/drawing/2014/main" id="{3E2F7481-2CDC-4C6B-8D02-E297B3A2C609}"/>
              </a:ext>
            </a:extLst>
          </p:cNvPr>
          <p:cNvSpPr>
            <a:spLocks noGrp="1"/>
          </p:cNvSpPr>
          <p:nvPr/>
        </p:nvSpPr>
        <p:spPr>
          <a:xfrm>
            <a:off x="10763250" y="55530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rPr>
              <a:t>DEMO</a:t>
            </a:r>
          </a:p>
        </p:txBody>
      </p:sp>
      <p:sp>
        <p:nvSpPr>
          <p:cNvPr id="45" name="s2-footer-line">
            <a:extLst>
              <a:ext uri="{FF2B5EF4-FFF2-40B4-BE49-F238E27FC236}">
                <a16:creationId xmlns:a16="http://schemas.microsoft.com/office/drawing/2014/main" id="{B6FD24AB-A6BF-4A5C-BA84-E17A54C693F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46" name="s2-footer-brand">
            <a:extLst>
              <a:ext uri="{FF2B5EF4-FFF2-40B4-BE49-F238E27FC236}">
                <a16:creationId xmlns:a16="http://schemas.microsoft.com/office/drawing/2014/main" id="{57BCE6F6-A886-413B-AC73-216F468301D4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47" name="s2-footer-note">
            <a:extLst>
              <a:ext uri="{FF2B5EF4-FFF2-40B4-BE49-F238E27FC236}">
                <a16:creationId xmlns:a16="http://schemas.microsoft.com/office/drawing/2014/main" id="{29D473A2-1FDD-47D4-AB52-9670330BE53F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자재검수는 모바일 전용 화면을 별도 캡처했습니다.</a:t>
            </a:r>
          </a:p>
        </p:txBody>
      </p:sp>
      <p:sp>
        <p:nvSpPr>
          <p:cNvPr id="48" name="s2-footer-page">
            <a:extLst>
              <a:ext uri="{FF2B5EF4-FFF2-40B4-BE49-F238E27FC236}">
                <a16:creationId xmlns:a16="http://schemas.microsoft.com/office/drawing/2014/main" id="{315A9453-2FE5-4D3F-9D06-BE6DDD607796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907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-header">
            <a:extLst>
              <a:ext uri="{FF2B5EF4-FFF2-40B4-BE49-F238E27FC236}">
                <a16:creationId xmlns:a16="http://schemas.microsoft.com/office/drawing/2014/main" id="{25867D6A-B461-4DAC-ACA0-DDC24B0B77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3-header-accent">
            <a:extLst>
              <a:ext uri="{FF2B5EF4-FFF2-40B4-BE49-F238E27FC236}">
                <a16:creationId xmlns:a16="http://schemas.microsoft.com/office/drawing/2014/main" id="{20389EDD-EA05-4E17-BFBC-9E06F418F778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3-eyebrow">
            <a:extLst>
              <a:ext uri="{FF2B5EF4-FFF2-40B4-BE49-F238E27FC236}">
                <a16:creationId xmlns:a16="http://schemas.microsoft.com/office/drawing/2014/main" id="{A9E2BD88-A376-4785-89AE-270DED783368}"/>
              </a:ext>
            </a:extLst>
          </p:cNvPr>
          <p:cNvSpPr>
            <a:spLocks noGrp="1"/>
          </p:cNvSpPr>
          <p:nvPr/>
        </p:nvSpPr>
        <p:spPr>
          <a:xfrm>
            <a:off x="419100" y="180975"/>
            <a:ext cx="3429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 · 02</a:t>
            </a:r>
          </a:p>
        </p:txBody>
      </p:sp>
      <p:sp>
        <p:nvSpPr>
          <p:cNvPr id="5" name="s3-title">
            <a:extLst>
              <a:ext uri="{FF2B5EF4-FFF2-40B4-BE49-F238E27FC236}">
                <a16:creationId xmlns:a16="http://schemas.microsoft.com/office/drawing/2014/main" id="{36D732D6-6ECE-425C-9457-13C0D1FD1A4E}"/>
              </a:ext>
            </a:extLst>
          </p:cNvPr>
          <p:cNvSpPr>
            <a:spLocks noGrp="1"/>
          </p:cNvSpPr>
          <p:nvPr/>
        </p:nvSpPr>
        <p:spPr>
          <a:xfrm>
            <a:off x="419100" y="333375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공정품질</a:t>
            </a:r>
          </a:p>
        </p:txBody>
      </p:sp>
      <p:sp>
        <p:nvSpPr>
          <p:cNvPr id="6" name="s3-headline">
            <a:extLst>
              <a:ext uri="{FF2B5EF4-FFF2-40B4-BE49-F238E27FC236}">
                <a16:creationId xmlns:a16="http://schemas.microsoft.com/office/drawing/2014/main" id="{3D590E07-7EEF-40E5-9135-9FAC3378F27D}"/>
              </a:ext>
            </a:extLst>
          </p:cNvPr>
          <p:cNvSpPr>
            <a:spLocks noGrp="1"/>
          </p:cNvSpPr>
          <p:nvPr/>
        </p:nvSpPr>
        <p:spPr>
          <a:xfrm>
            <a:off x="3429000" y="266700"/>
            <a:ext cx="514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비전 검사의 모든 판정</a:t>
            </a:r>
          </a:p>
        </p:txBody>
      </p:sp>
      <p:sp>
        <p:nvSpPr>
          <p:cNvPr id="7" name="s3-intro">
            <a:extLst>
              <a:ext uri="{FF2B5EF4-FFF2-40B4-BE49-F238E27FC236}">
                <a16:creationId xmlns:a16="http://schemas.microsoft.com/office/drawing/2014/main" id="{06B762D0-20D2-4190-A7C1-B64EE77F94F1}"/>
              </a:ext>
            </a:extLst>
          </p:cNvPr>
          <p:cNvSpPr>
            <a:spLocks noGrp="1"/>
          </p:cNvSpPr>
          <p:nvPr/>
        </p:nvSpPr>
        <p:spPr>
          <a:xfrm>
            <a:off x="3238500" y="5524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유리 간격부터 누수·가스켓·필름까지 검사 결과와 현장 이미지를 모아봅니다.</a:t>
            </a:r>
          </a:p>
        </p:txBody>
      </p:sp>
      <p:sp>
        <p:nvSpPr>
          <p:cNvPr id="8" name="s3-count">
            <a:extLst>
              <a:ext uri="{FF2B5EF4-FFF2-40B4-BE49-F238E27FC236}">
                <a16:creationId xmlns:a16="http://schemas.microsoft.com/office/drawing/2014/main" id="{7858131E-25FD-46DC-87FF-3DD9827E997C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9" name="s3-count-label">
            <a:extLst>
              <a:ext uri="{FF2B5EF4-FFF2-40B4-BE49-F238E27FC236}">
                <a16:creationId xmlns:a16="http://schemas.microsoft.com/office/drawing/2014/main" id="{11E18652-923F-442E-91D5-0E2646B2FDAD}"/>
              </a:ext>
            </a:extLst>
          </p:cNvPr>
          <p:cNvSpPr>
            <a:spLocks noGrp="1"/>
          </p:cNvSpPr>
          <p:nvPr/>
        </p:nvSpPr>
        <p:spPr>
          <a:xfrm>
            <a:off x="10001250" y="628650"/>
            <a:ext cx="1047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SUB PAGES</a:t>
            </a:r>
          </a:p>
        </p:txBody>
      </p:sp>
      <p:sp>
        <p:nvSpPr>
          <p:cNvPr id="10" name="s3-card-1-bg">
            <a:extLst>
              <a:ext uri="{FF2B5EF4-FFF2-40B4-BE49-F238E27FC236}">
                <a16:creationId xmlns:a16="http://schemas.microsoft.com/office/drawing/2014/main" id="{1D3BA02B-1B0B-46B7-AA3D-3CFD2EE9C24C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5581650" cy="2400300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1" name="s3-card-1-image-frame">
            <a:extLst>
              <a:ext uri="{FF2B5EF4-FFF2-40B4-BE49-F238E27FC236}">
                <a16:creationId xmlns:a16="http://schemas.microsoft.com/office/drawing/2014/main" id="{B7773106-0E37-44FE-84EF-4A7C0A927DC0}"/>
              </a:ext>
            </a:extLst>
          </p:cNvPr>
          <p:cNvSpPr>
            <a:spLocks noGrp="1"/>
          </p:cNvSpPr>
          <p:nvPr/>
        </p:nvSpPr>
        <p:spPr>
          <a:xfrm>
            <a:off x="533400" y="1238250"/>
            <a:ext cx="321945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257895"/>
            <a:ext cx="3181350" cy="1789509"/>
          </a:xfrm>
          <a:prstGeom prst="roundRect">
            <a:avLst>
              <a:gd name="adj" fmla="val 4255"/>
            </a:avLst>
          </a:prstGeom>
        </p:spPr>
      </p:pic>
      <p:sp>
        <p:nvSpPr>
          <p:cNvPr id="13" name="s3-card-1-title">
            <a:extLst>
              <a:ext uri="{FF2B5EF4-FFF2-40B4-BE49-F238E27FC236}">
                <a16:creationId xmlns:a16="http://schemas.microsoft.com/office/drawing/2014/main" id="{09D7E1C6-51FE-4DBA-AC06-B9C9E7F1BEB3}"/>
              </a:ext>
            </a:extLst>
          </p:cNvPr>
          <p:cNvSpPr>
            <a:spLocks noGrp="1"/>
          </p:cNvSpPr>
          <p:nvPr/>
        </p:nvSpPr>
        <p:spPr>
          <a:xfrm>
            <a:off x="3924300" y="135255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유리간격검사</a:t>
            </a:r>
          </a:p>
        </p:txBody>
      </p:sp>
      <p:sp>
        <p:nvSpPr>
          <p:cNvPr id="14" name="s3-card-1-summary">
            <a:extLst>
              <a:ext uri="{FF2B5EF4-FFF2-40B4-BE49-F238E27FC236}">
                <a16:creationId xmlns:a16="http://schemas.microsoft.com/office/drawing/2014/main" id="{445124ED-26AD-4635-B896-1440A81D8D57}"/>
              </a:ext>
            </a:extLst>
          </p:cNvPr>
          <p:cNvSpPr>
            <a:spLocks noGrp="1"/>
          </p:cNvSpPr>
          <p:nvPr/>
        </p:nvSpPr>
        <p:spPr>
          <a:xfrm>
            <a:off x="3924300" y="1657350"/>
            <a:ext cx="1885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메인·4개 코너 이미지를 비교해 OK/NG 판정, 누적 통계와 검사 이력을 확인합니다.</a:t>
            </a:r>
          </a:p>
        </p:txBody>
      </p:sp>
      <p:sp>
        <p:nvSpPr>
          <p:cNvPr id="15" name="s3-card-1-route">
            <a:extLst>
              <a:ext uri="{FF2B5EF4-FFF2-40B4-BE49-F238E27FC236}">
                <a16:creationId xmlns:a16="http://schemas.microsoft.com/office/drawing/2014/main" id="{4308B82F-E7AD-4725-B7AF-4C45677A6C1B}"/>
              </a:ext>
            </a:extLst>
          </p:cNvPr>
          <p:cNvSpPr>
            <a:spLocks noGrp="1"/>
          </p:cNvSpPr>
          <p:nvPr/>
        </p:nvSpPr>
        <p:spPr>
          <a:xfrm>
            <a:off x="3924300" y="2419350"/>
            <a:ext cx="1885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/production/glass-gap-check</a:t>
            </a:r>
          </a:p>
        </p:txBody>
      </p:sp>
      <p:sp>
        <p:nvSpPr>
          <p:cNvPr id="16" name="s3-card-1-live-bg">
            <a:extLst>
              <a:ext uri="{FF2B5EF4-FFF2-40B4-BE49-F238E27FC236}">
                <a16:creationId xmlns:a16="http://schemas.microsoft.com/office/drawing/2014/main" id="{0D4BC495-6ED7-412A-9317-354E2D38B193}"/>
              </a:ext>
            </a:extLst>
          </p:cNvPr>
          <p:cNvSpPr>
            <a:spLocks noGrp="1"/>
          </p:cNvSpPr>
          <p:nvPr/>
        </p:nvSpPr>
        <p:spPr>
          <a:xfrm>
            <a:off x="3924300" y="2809875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17" name="s3-card-1-live-text">
            <a:extLst>
              <a:ext uri="{FF2B5EF4-FFF2-40B4-BE49-F238E27FC236}">
                <a16:creationId xmlns:a16="http://schemas.microsoft.com/office/drawing/2014/main" id="{01E9BBC1-6219-4070-A14E-8EEE630E03C1}"/>
              </a:ext>
            </a:extLst>
          </p:cNvPr>
          <p:cNvSpPr>
            <a:spLocks noGrp="1"/>
          </p:cNvSpPr>
          <p:nvPr/>
        </p:nvSpPr>
        <p:spPr>
          <a:xfrm>
            <a:off x="3924300" y="28098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VISION</a:t>
            </a:r>
          </a:p>
        </p:txBody>
      </p:sp>
      <p:sp>
        <p:nvSpPr>
          <p:cNvPr id="18" name="s3-card-1-caption">
            <a:extLst>
              <a:ext uri="{FF2B5EF4-FFF2-40B4-BE49-F238E27FC236}">
                <a16:creationId xmlns:a16="http://schemas.microsoft.com/office/drawing/2014/main" id="{86C9DB00-1C74-4931-9436-C58C29F76CEC}"/>
              </a:ext>
            </a:extLst>
          </p:cNvPr>
          <p:cNvSpPr>
            <a:spLocks noGrp="1"/>
          </p:cNvSpPr>
          <p:nvPr/>
        </p:nvSpPr>
        <p:spPr>
          <a:xfrm>
            <a:off x="4591050" y="2838450"/>
            <a:ext cx="1219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판정 · 이미지 · 로그</a:t>
            </a:r>
          </a:p>
        </p:txBody>
      </p:sp>
      <p:sp>
        <p:nvSpPr>
          <p:cNvPr id="19" name="s3-card-2-bg">
            <a:extLst>
              <a:ext uri="{FF2B5EF4-FFF2-40B4-BE49-F238E27FC236}">
                <a16:creationId xmlns:a16="http://schemas.microsoft.com/office/drawing/2014/main" id="{7772D3A7-9055-40F6-A2BE-41214A075E8A}"/>
              </a:ext>
            </a:extLst>
          </p:cNvPr>
          <p:cNvSpPr>
            <a:spLocks noGrp="1"/>
          </p:cNvSpPr>
          <p:nvPr/>
        </p:nvSpPr>
        <p:spPr>
          <a:xfrm>
            <a:off x="6191250" y="1123950"/>
            <a:ext cx="5581650" cy="2400300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0" name="s3-card-2-image-frame">
            <a:extLst>
              <a:ext uri="{FF2B5EF4-FFF2-40B4-BE49-F238E27FC236}">
                <a16:creationId xmlns:a16="http://schemas.microsoft.com/office/drawing/2014/main" id="{4FE72705-AE89-4E58-8194-BE0C5C5255DB}"/>
              </a:ext>
            </a:extLst>
          </p:cNvPr>
          <p:cNvSpPr>
            <a:spLocks noGrp="1"/>
          </p:cNvSpPr>
          <p:nvPr/>
        </p:nvSpPr>
        <p:spPr>
          <a:xfrm>
            <a:off x="6305550" y="1238250"/>
            <a:ext cx="321945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69" name="그림 6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24600" y="1257895"/>
            <a:ext cx="3181350" cy="1789509"/>
          </a:xfrm>
          <a:prstGeom prst="roundRect">
            <a:avLst>
              <a:gd name="adj" fmla="val 4255"/>
            </a:avLst>
          </a:prstGeom>
        </p:spPr>
      </p:pic>
      <p:sp>
        <p:nvSpPr>
          <p:cNvPr id="22" name="s3-card-2-title">
            <a:extLst>
              <a:ext uri="{FF2B5EF4-FFF2-40B4-BE49-F238E27FC236}">
                <a16:creationId xmlns:a16="http://schemas.microsoft.com/office/drawing/2014/main" id="{648FB78F-60AB-4442-B7D6-D8F957C1526F}"/>
              </a:ext>
            </a:extLst>
          </p:cNvPr>
          <p:cNvSpPr>
            <a:spLocks noGrp="1"/>
          </p:cNvSpPr>
          <p:nvPr/>
        </p:nvSpPr>
        <p:spPr>
          <a:xfrm>
            <a:off x="9696450" y="135255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발포누수검사</a:t>
            </a:r>
          </a:p>
        </p:txBody>
      </p:sp>
      <p:sp>
        <p:nvSpPr>
          <p:cNvPr id="23" name="s3-card-2-summary">
            <a:extLst>
              <a:ext uri="{FF2B5EF4-FFF2-40B4-BE49-F238E27FC236}">
                <a16:creationId xmlns:a16="http://schemas.microsoft.com/office/drawing/2014/main" id="{23976EA0-2571-4574-8E41-B50595CC9CCE}"/>
              </a:ext>
            </a:extLst>
          </p:cNvPr>
          <p:cNvSpPr>
            <a:spLocks noGrp="1"/>
          </p:cNvSpPr>
          <p:nvPr/>
        </p:nvSpPr>
        <p:spPr>
          <a:xfrm>
            <a:off x="9696450" y="1657350"/>
            <a:ext cx="1885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A1~A6 지점의 검사 이미지와 누수 이상 판정, 이전 검사 기록을 모니터링합니다.</a:t>
            </a:r>
          </a:p>
        </p:txBody>
      </p:sp>
      <p:sp>
        <p:nvSpPr>
          <p:cNvPr id="24" name="s3-card-2-route">
            <a:extLst>
              <a:ext uri="{FF2B5EF4-FFF2-40B4-BE49-F238E27FC236}">
                <a16:creationId xmlns:a16="http://schemas.microsoft.com/office/drawing/2014/main" id="{A9A4BA9D-1F31-4CC8-8893-64EE0C79FFBC}"/>
              </a:ext>
            </a:extLst>
          </p:cNvPr>
          <p:cNvSpPr>
            <a:spLocks noGrp="1"/>
          </p:cNvSpPr>
          <p:nvPr/>
        </p:nvSpPr>
        <p:spPr>
          <a:xfrm>
            <a:off x="9696450" y="2419350"/>
            <a:ext cx="1885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/production/leak-detection</a:t>
            </a:r>
          </a:p>
        </p:txBody>
      </p:sp>
      <p:sp>
        <p:nvSpPr>
          <p:cNvPr id="25" name="s3-card-2-live-bg">
            <a:extLst>
              <a:ext uri="{FF2B5EF4-FFF2-40B4-BE49-F238E27FC236}">
                <a16:creationId xmlns:a16="http://schemas.microsoft.com/office/drawing/2014/main" id="{D49582E0-64C7-4038-98E0-E23B730A5AB9}"/>
              </a:ext>
            </a:extLst>
          </p:cNvPr>
          <p:cNvSpPr>
            <a:spLocks noGrp="1"/>
          </p:cNvSpPr>
          <p:nvPr/>
        </p:nvSpPr>
        <p:spPr>
          <a:xfrm>
            <a:off x="9696450" y="2809875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26" name="s3-card-2-live-text">
            <a:extLst>
              <a:ext uri="{FF2B5EF4-FFF2-40B4-BE49-F238E27FC236}">
                <a16:creationId xmlns:a16="http://schemas.microsoft.com/office/drawing/2014/main" id="{A3CA88ED-0FCF-484E-AEB4-4621D415C518}"/>
              </a:ext>
            </a:extLst>
          </p:cNvPr>
          <p:cNvSpPr>
            <a:spLocks noGrp="1"/>
          </p:cNvSpPr>
          <p:nvPr/>
        </p:nvSpPr>
        <p:spPr>
          <a:xfrm>
            <a:off x="9696450" y="28098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VISION</a:t>
            </a:r>
          </a:p>
        </p:txBody>
      </p:sp>
      <p:sp>
        <p:nvSpPr>
          <p:cNvPr id="27" name="s3-card-2-caption">
            <a:extLst>
              <a:ext uri="{FF2B5EF4-FFF2-40B4-BE49-F238E27FC236}">
                <a16:creationId xmlns:a16="http://schemas.microsoft.com/office/drawing/2014/main" id="{EC7574CC-0696-4F5E-B096-DE130D0EC91C}"/>
              </a:ext>
            </a:extLst>
          </p:cNvPr>
          <p:cNvSpPr>
            <a:spLocks noGrp="1"/>
          </p:cNvSpPr>
          <p:nvPr/>
        </p:nvSpPr>
        <p:spPr>
          <a:xfrm>
            <a:off x="10363200" y="2838450"/>
            <a:ext cx="1219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판정 · 이미지 · 로그</a:t>
            </a:r>
          </a:p>
        </p:txBody>
      </p:sp>
      <p:sp>
        <p:nvSpPr>
          <p:cNvPr id="28" name="s3-card-3-bg">
            <a:extLst>
              <a:ext uri="{FF2B5EF4-FFF2-40B4-BE49-F238E27FC236}">
                <a16:creationId xmlns:a16="http://schemas.microsoft.com/office/drawing/2014/main" id="{D0F85CED-8386-47B3-861A-7F354DF038ED}"/>
              </a:ext>
            </a:extLst>
          </p:cNvPr>
          <p:cNvSpPr>
            <a:spLocks noGrp="1"/>
          </p:cNvSpPr>
          <p:nvPr/>
        </p:nvSpPr>
        <p:spPr>
          <a:xfrm>
            <a:off x="419100" y="3714750"/>
            <a:ext cx="5581650" cy="2400300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9" name="s3-card-3-image-frame">
            <a:extLst>
              <a:ext uri="{FF2B5EF4-FFF2-40B4-BE49-F238E27FC236}">
                <a16:creationId xmlns:a16="http://schemas.microsoft.com/office/drawing/2014/main" id="{06F83220-AA9F-48F9-A606-0CA2C3ACD684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321945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78" name="그림 7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2450" y="3848695"/>
            <a:ext cx="3181350" cy="1789509"/>
          </a:xfrm>
          <a:prstGeom prst="roundRect">
            <a:avLst>
              <a:gd name="adj" fmla="val 4255"/>
            </a:avLst>
          </a:prstGeom>
        </p:spPr>
      </p:pic>
      <p:sp>
        <p:nvSpPr>
          <p:cNvPr id="31" name="s3-card-3-title">
            <a:extLst>
              <a:ext uri="{FF2B5EF4-FFF2-40B4-BE49-F238E27FC236}">
                <a16:creationId xmlns:a16="http://schemas.microsoft.com/office/drawing/2014/main" id="{C03A9BD0-5424-4EC1-B759-6002136E0F3E}"/>
              </a:ext>
            </a:extLst>
          </p:cNvPr>
          <p:cNvSpPr>
            <a:spLocks noGrp="1"/>
          </p:cNvSpPr>
          <p:nvPr/>
        </p:nvSpPr>
        <p:spPr>
          <a:xfrm>
            <a:off x="3924300" y="394335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가스켓 이상 감지</a:t>
            </a:r>
          </a:p>
        </p:txBody>
      </p:sp>
      <p:sp>
        <p:nvSpPr>
          <p:cNvPr id="32" name="s3-card-3-summary">
            <a:extLst>
              <a:ext uri="{FF2B5EF4-FFF2-40B4-BE49-F238E27FC236}">
                <a16:creationId xmlns:a16="http://schemas.microsoft.com/office/drawing/2014/main" id="{69A7AF69-9B64-4DAC-A901-F7F0B7E6E435}"/>
              </a:ext>
            </a:extLst>
          </p:cNvPr>
          <p:cNvSpPr>
            <a:spLocks noGrp="1"/>
          </p:cNvSpPr>
          <p:nvPr/>
        </p:nvSpPr>
        <p:spPr>
          <a:xfrm>
            <a:off x="3924300" y="4248150"/>
            <a:ext cx="1885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가스켓 검사 이미지, 이상 영역, 전체 판정과 실시간 생산 로그를 확인합니다.</a:t>
            </a:r>
          </a:p>
        </p:txBody>
      </p:sp>
      <p:sp>
        <p:nvSpPr>
          <p:cNvPr id="33" name="s3-card-3-route">
            <a:extLst>
              <a:ext uri="{FF2B5EF4-FFF2-40B4-BE49-F238E27FC236}">
                <a16:creationId xmlns:a16="http://schemas.microsoft.com/office/drawing/2014/main" id="{C3825B9B-9406-457B-B788-EB9B0EE1FEBE}"/>
              </a:ext>
            </a:extLst>
          </p:cNvPr>
          <p:cNvSpPr>
            <a:spLocks noGrp="1"/>
          </p:cNvSpPr>
          <p:nvPr/>
        </p:nvSpPr>
        <p:spPr>
          <a:xfrm>
            <a:off x="3924300" y="5010150"/>
            <a:ext cx="1885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/production/gasket-check</a:t>
            </a:r>
          </a:p>
        </p:txBody>
      </p:sp>
      <p:sp>
        <p:nvSpPr>
          <p:cNvPr id="34" name="s3-card-3-live-bg">
            <a:extLst>
              <a:ext uri="{FF2B5EF4-FFF2-40B4-BE49-F238E27FC236}">
                <a16:creationId xmlns:a16="http://schemas.microsoft.com/office/drawing/2014/main" id="{1197BEF5-CF0A-4582-8298-EE3AA3B060A3}"/>
              </a:ext>
            </a:extLst>
          </p:cNvPr>
          <p:cNvSpPr>
            <a:spLocks noGrp="1"/>
          </p:cNvSpPr>
          <p:nvPr/>
        </p:nvSpPr>
        <p:spPr>
          <a:xfrm>
            <a:off x="3924300" y="5400675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35" name="s3-card-3-live-text">
            <a:extLst>
              <a:ext uri="{FF2B5EF4-FFF2-40B4-BE49-F238E27FC236}">
                <a16:creationId xmlns:a16="http://schemas.microsoft.com/office/drawing/2014/main" id="{CAE16488-C348-4A30-994B-4485F831348E}"/>
              </a:ext>
            </a:extLst>
          </p:cNvPr>
          <p:cNvSpPr>
            <a:spLocks noGrp="1"/>
          </p:cNvSpPr>
          <p:nvPr/>
        </p:nvSpPr>
        <p:spPr>
          <a:xfrm>
            <a:off x="3924300" y="54006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VISION</a:t>
            </a:r>
          </a:p>
        </p:txBody>
      </p:sp>
      <p:sp>
        <p:nvSpPr>
          <p:cNvPr id="36" name="s3-card-3-caption">
            <a:extLst>
              <a:ext uri="{FF2B5EF4-FFF2-40B4-BE49-F238E27FC236}">
                <a16:creationId xmlns:a16="http://schemas.microsoft.com/office/drawing/2014/main" id="{2DD532D4-F3BF-4909-B639-FD824896DD3B}"/>
              </a:ext>
            </a:extLst>
          </p:cNvPr>
          <p:cNvSpPr>
            <a:spLocks noGrp="1"/>
          </p:cNvSpPr>
          <p:nvPr/>
        </p:nvSpPr>
        <p:spPr>
          <a:xfrm>
            <a:off x="4591050" y="5429250"/>
            <a:ext cx="1219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판정 · 이미지 · 로그</a:t>
            </a:r>
          </a:p>
        </p:txBody>
      </p:sp>
      <p:sp>
        <p:nvSpPr>
          <p:cNvPr id="37" name="s3-card-4-bg">
            <a:extLst>
              <a:ext uri="{FF2B5EF4-FFF2-40B4-BE49-F238E27FC236}">
                <a16:creationId xmlns:a16="http://schemas.microsoft.com/office/drawing/2014/main" id="{90942F36-D156-4823-A1D9-10227B839487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5581650" cy="2400300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38" name="s3-card-4-image-frame">
            <a:extLst>
              <a:ext uri="{FF2B5EF4-FFF2-40B4-BE49-F238E27FC236}">
                <a16:creationId xmlns:a16="http://schemas.microsoft.com/office/drawing/2014/main" id="{99819B18-E48A-492C-AA39-C599FED3D1E1}"/>
              </a:ext>
            </a:extLst>
          </p:cNvPr>
          <p:cNvSpPr>
            <a:spLocks noGrp="1"/>
          </p:cNvSpPr>
          <p:nvPr/>
        </p:nvSpPr>
        <p:spPr>
          <a:xfrm>
            <a:off x="6305550" y="3829050"/>
            <a:ext cx="321945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24600" y="3848695"/>
            <a:ext cx="3181350" cy="1789509"/>
          </a:xfrm>
          <a:prstGeom prst="roundRect">
            <a:avLst>
              <a:gd name="adj" fmla="val 4255"/>
            </a:avLst>
          </a:prstGeom>
        </p:spPr>
      </p:pic>
      <p:sp>
        <p:nvSpPr>
          <p:cNvPr id="40" name="s3-card-4-title">
            <a:extLst>
              <a:ext uri="{FF2B5EF4-FFF2-40B4-BE49-F238E27FC236}">
                <a16:creationId xmlns:a16="http://schemas.microsoft.com/office/drawing/2014/main" id="{F8968BDB-6BBF-4EBC-9315-5E4E38D3A0C3}"/>
              </a:ext>
            </a:extLst>
          </p:cNvPr>
          <p:cNvSpPr>
            <a:spLocks noGrp="1"/>
          </p:cNvSpPr>
          <p:nvPr/>
        </p:nvSpPr>
        <p:spPr>
          <a:xfrm>
            <a:off x="9696450" y="394335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4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필름부착확인</a:t>
            </a:r>
          </a:p>
        </p:txBody>
      </p:sp>
      <p:sp>
        <p:nvSpPr>
          <p:cNvPr id="41" name="s3-card-4-summary">
            <a:extLst>
              <a:ext uri="{FF2B5EF4-FFF2-40B4-BE49-F238E27FC236}">
                <a16:creationId xmlns:a16="http://schemas.microsoft.com/office/drawing/2014/main" id="{6638CB20-4AE6-4F3F-B2C3-C6C6866A96F1}"/>
              </a:ext>
            </a:extLst>
          </p:cNvPr>
          <p:cNvSpPr>
            <a:spLocks noGrp="1"/>
          </p:cNvSpPr>
          <p:nvPr/>
        </p:nvSpPr>
        <p:spPr>
          <a:xfrm>
            <a:off x="9696450" y="4248150"/>
            <a:ext cx="1885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78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필름 부착 이미지와 판정 수량, 검사 상태 및 실시간 생산 로그를 제공합니다.</a:t>
            </a:r>
          </a:p>
        </p:txBody>
      </p:sp>
      <p:sp>
        <p:nvSpPr>
          <p:cNvPr id="42" name="s3-card-4-route">
            <a:extLst>
              <a:ext uri="{FF2B5EF4-FFF2-40B4-BE49-F238E27FC236}">
                <a16:creationId xmlns:a16="http://schemas.microsoft.com/office/drawing/2014/main" id="{1D47DC8E-F4A4-4825-A61E-495B0AC3715B}"/>
              </a:ext>
            </a:extLst>
          </p:cNvPr>
          <p:cNvSpPr>
            <a:spLocks noGrp="1"/>
          </p:cNvSpPr>
          <p:nvPr/>
        </p:nvSpPr>
        <p:spPr>
          <a:xfrm>
            <a:off x="9696450" y="5010150"/>
            <a:ext cx="1885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1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/production/film-attachment</a:t>
            </a:r>
          </a:p>
        </p:txBody>
      </p:sp>
      <p:sp>
        <p:nvSpPr>
          <p:cNvPr id="43" name="s3-card-4-live-bg">
            <a:extLst>
              <a:ext uri="{FF2B5EF4-FFF2-40B4-BE49-F238E27FC236}">
                <a16:creationId xmlns:a16="http://schemas.microsoft.com/office/drawing/2014/main" id="{2B0AE1BC-F293-4267-81E6-38C03A60C985}"/>
              </a:ext>
            </a:extLst>
          </p:cNvPr>
          <p:cNvSpPr>
            <a:spLocks noGrp="1"/>
          </p:cNvSpPr>
          <p:nvPr/>
        </p:nvSpPr>
        <p:spPr>
          <a:xfrm>
            <a:off x="9696450" y="5400675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44" name="s3-card-4-live-text">
            <a:extLst>
              <a:ext uri="{FF2B5EF4-FFF2-40B4-BE49-F238E27FC236}">
                <a16:creationId xmlns:a16="http://schemas.microsoft.com/office/drawing/2014/main" id="{7D5CBA86-8791-4B72-81EF-DA26B24F3AA0}"/>
              </a:ext>
            </a:extLst>
          </p:cNvPr>
          <p:cNvSpPr>
            <a:spLocks noGrp="1"/>
          </p:cNvSpPr>
          <p:nvPr/>
        </p:nvSpPr>
        <p:spPr>
          <a:xfrm>
            <a:off x="9696450" y="5400675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VISION</a:t>
            </a:r>
          </a:p>
        </p:txBody>
      </p:sp>
      <p:sp>
        <p:nvSpPr>
          <p:cNvPr id="45" name="s3-card-4-caption">
            <a:extLst>
              <a:ext uri="{FF2B5EF4-FFF2-40B4-BE49-F238E27FC236}">
                <a16:creationId xmlns:a16="http://schemas.microsoft.com/office/drawing/2014/main" id="{6A093F9D-8042-44B2-8D55-C81844E09923}"/>
              </a:ext>
            </a:extLst>
          </p:cNvPr>
          <p:cNvSpPr>
            <a:spLocks noGrp="1"/>
          </p:cNvSpPr>
          <p:nvPr/>
        </p:nvSpPr>
        <p:spPr>
          <a:xfrm>
            <a:off x="10363200" y="5429250"/>
            <a:ext cx="12192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판정 · 이미지 · 로그</a:t>
            </a:r>
          </a:p>
        </p:txBody>
      </p:sp>
      <p:sp>
        <p:nvSpPr>
          <p:cNvPr id="46" name="s3-footer-line">
            <a:extLst>
              <a:ext uri="{FF2B5EF4-FFF2-40B4-BE49-F238E27FC236}">
                <a16:creationId xmlns:a16="http://schemas.microsoft.com/office/drawing/2014/main" id="{FB52D5D8-93A3-4272-87C9-0854A275519F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47" name="s3-footer-brand">
            <a:extLst>
              <a:ext uri="{FF2B5EF4-FFF2-40B4-BE49-F238E27FC236}">
                <a16:creationId xmlns:a16="http://schemas.microsoft.com/office/drawing/2014/main" id="{66E98B14-FDAE-44D2-AC0C-CA72F448790F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48" name="s3-footer-note">
            <a:extLst>
              <a:ext uri="{FF2B5EF4-FFF2-40B4-BE49-F238E27FC236}">
                <a16:creationId xmlns:a16="http://schemas.microsoft.com/office/drawing/2014/main" id="{1D63F7CD-6005-4BE8-80C2-4E0376D1BA12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검사 데이터 유무에 따라 실제 운영 화면의 수치는 달라질 수 있습니다.</a:t>
            </a:r>
          </a:p>
        </p:txBody>
      </p:sp>
      <p:sp>
        <p:nvSpPr>
          <p:cNvPr id="49" name="s3-footer-page">
            <a:extLst>
              <a:ext uri="{FF2B5EF4-FFF2-40B4-BE49-F238E27FC236}">
                <a16:creationId xmlns:a16="http://schemas.microsoft.com/office/drawing/2014/main" id="{7EABD325-64E3-4ED6-BF6C-ED07BFC934E9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875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-header">
            <a:extLst>
              <a:ext uri="{FF2B5EF4-FFF2-40B4-BE49-F238E27FC236}">
                <a16:creationId xmlns:a16="http://schemas.microsoft.com/office/drawing/2014/main" id="{654ACAE2-3BE6-4681-B84E-7B23D01143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4-header-accent">
            <a:extLst>
              <a:ext uri="{FF2B5EF4-FFF2-40B4-BE49-F238E27FC236}">
                <a16:creationId xmlns:a16="http://schemas.microsoft.com/office/drawing/2014/main" id="{E4009F76-94A7-4AB9-A1DF-0A98233C1E3E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4-eyebrow">
            <a:extLst>
              <a:ext uri="{FF2B5EF4-FFF2-40B4-BE49-F238E27FC236}">
                <a16:creationId xmlns:a16="http://schemas.microsoft.com/office/drawing/2014/main" id="{F47A8E8F-CEA7-4A13-B75C-74C1D137D9A6}"/>
              </a:ext>
            </a:extLst>
          </p:cNvPr>
          <p:cNvSpPr>
            <a:spLocks noGrp="1"/>
          </p:cNvSpPr>
          <p:nvPr/>
        </p:nvSpPr>
        <p:spPr>
          <a:xfrm>
            <a:off x="419100" y="180975"/>
            <a:ext cx="3429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 · 03</a:t>
            </a:r>
          </a:p>
        </p:txBody>
      </p:sp>
      <p:sp>
        <p:nvSpPr>
          <p:cNvPr id="5" name="s4-title">
            <a:extLst>
              <a:ext uri="{FF2B5EF4-FFF2-40B4-BE49-F238E27FC236}">
                <a16:creationId xmlns:a16="http://schemas.microsoft.com/office/drawing/2014/main" id="{90F96209-D0A1-401B-9D42-E38AC955DDE3}"/>
              </a:ext>
            </a:extLst>
          </p:cNvPr>
          <p:cNvSpPr>
            <a:spLocks noGrp="1"/>
          </p:cNvSpPr>
          <p:nvPr/>
        </p:nvSpPr>
        <p:spPr>
          <a:xfrm>
            <a:off x="419100" y="333375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공정설비</a:t>
            </a:r>
          </a:p>
        </p:txBody>
      </p:sp>
      <p:sp>
        <p:nvSpPr>
          <p:cNvPr id="6" name="s4-headline">
            <a:extLst>
              <a:ext uri="{FF2B5EF4-FFF2-40B4-BE49-F238E27FC236}">
                <a16:creationId xmlns:a16="http://schemas.microsoft.com/office/drawing/2014/main" id="{C85B5E98-8F4F-4211-B5FD-6A5274719E6B}"/>
              </a:ext>
            </a:extLst>
          </p:cNvPr>
          <p:cNvSpPr>
            <a:spLocks noGrp="1"/>
          </p:cNvSpPr>
          <p:nvPr/>
        </p:nvSpPr>
        <p:spPr>
          <a:xfrm>
            <a:off x="3429000" y="266700"/>
            <a:ext cx="514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이상을 먼저 읽다</a:t>
            </a:r>
          </a:p>
        </p:txBody>
      </p:sp>
      <p:sp>
        <p:nvSpPr>
          <p:cNvPr id="7" name="s4-intro">
            <a:extLst>
              <a:ext uri="{FF2B5EF4-FFF2-40B4-BE49-F238E27FC236}">
                <a16:creationId xmlns:a16="http://schemas.microsoft.com/office/drawing/2014/main" id="{47DBAFBF-0EC8-47D3-9B75-8E011D33622A}"/>
              </a:ext>
            </a:extLst>
          </p:cNvPr>
          <p:cNvSpPr>
            <a:spLocks noGrp="1"/>
          </p:cNvSpPr>
          <p:nvPr/>
        </p:nvSpPr>
        <p:spPr>
          <a:xfrm>
            <a:off x="3238500" y="5524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3D 공정 관제와 센서 지표로 설비 상태와 이상 징후를 추적합니다.</a:t>
            </a:r>
          </a:p>
        </p:txBody>
      </p:sp>
      <p:sp>
        <p:nvSpPr>
          <p:cNvPr id="8" name="s4-count">
            <a:extLst>
              <a:ext uri="{FF2B5EF4-FFF2-40B4-BE49-F238E27FC236}">
                <a16:creationId xmlns:a16="http://schemas.microsoft.com/office/drawing/2014/main" id="{CD171D81-C588-4E92-AD09-1B942DDB44B5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s4-count-label">
            <a:extLst>
              <a:ext uri="{FF2B5EF4-FFF2-40B4-BE49-F238E27FC236}">
                <a16:creationId xmlns:a16="http://schemas.microsoft.com/office/drawing/2014/main" id="{B9AA8A53-0D08-4031-B4DA-C0FEF5C81453}"/>
              </a:ext>
            </a:extLst>
          </p:cNvPr>
          <p:cNvSpPr>
            <a:spLocks noGrp="1"/>
          </p:cNvSpPr>
          <p:nvPr/>
        </p:nvSpPr>
        <p:spPr>
          <a:xfrm>
            <a:off x="10001250" y="628650"/>
            <a:ext cx="1047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SUB PAGES</a:t>
            </a:r>
          </a:p>
        </p:txBody>
      </p:sp>
      <p:sp>
        <p:nvSpPr>
          <p:cNvPr id="10" name="s4-card-1-bg">
            <a:extLst>
              <a:ext uri="{FF2B5EF4-FFF2-40B4-BE49-F238E27FC236}">
                <a16:creationId xmlns:a16="http://schemas.microsoft.com/office/drawing/2014/main" id="{1CF459B0-DD94-4E4E-9A3C-2EFE165985EE}"/>
              </a:ext>
            </a:extLst>
          </p:cNvPr>
          <p:cNvSpPr>
            <a:spLocks noGrp="1"/>
          </p:cNvSpPr>
          <p:nvPr/>
        </p:nvSpPr>
        <p:spPr>
          <a:xfrm>
            <a:off x="419100" y="1190625"/>
            <a:ext cx="5524500" cy="504825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1" name="s4-card-1-no-bg">
            <a:extLst>
              <a:ext uri="{FF2B5EF4-FFF2-40B4-BE49-F238E27FC236}">
                <a16:creationId xmlns:a16="http://schemas.microsoft.com/office/drawing/2014/main" id="{2184C5AA-3C77-4757-B040-CBAE83F9F7D3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12" name="s4-card-1-no-text">
            <a:extLst>
              <a:ext uri="{FF2B5EF4-FFF2-40B4-BE49-F238E27FC236}">
                <a16:creationId xmlns:a16="http://schemas.microsoft.com/office/drawing/2014/main" id="{715F7D7B-3EB0-434B-8D08-D975AECD6E93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01</a:t>
            </a:r>
          </a:p>
        </p:txBody>
      </p:sp>
      <p:sp>
        <p:nvSpPr>
          <p:cNvPr id="13" name="s4-card-1-image-frame">
            <a:extLst>
              <a:ext uri="{FF2B5EF4-FFF2-40B4-BE49-F238E27FC236}">
                <a16:creationId xmlns:a16="http://schemas.microsoft.com/office/drawing/2014/main" id="{C55BA930-48ED-44AC-8C58-5DE5627ACD7A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5219700" cy="295275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676400"/>
            <a:ext cx="5181600" cy="2914650"/>
          </a:xfrm>
          <a:prstGeom prst="roundRect">
            <a:avLst>
              <a:gd name="adj" fmla="val 2941"/>
            </a:avLst>
          </a:prstGeom>
        </p:spPr>
      </p:pic>
      <p:sp>
        <p:nvSpPr>
          <p:cNvPr id="15" name="s4-card-1-title">
            <a:extLst>
              <a:ext uri="{FF2B5EF4-FFF2-40B4-BE49-F238E27FC236}">
                <a16:creationId xmlns:a16="http://schemas.microsoft.com/office/drawing/2014/main" id="{B064725B-555C-4906-83F8-8B1518947B0E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3429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발포 설비 예측</a:t>
            </a:r>
          </a:p>
        </p:txBody>
      </p:sp>
      <p:sp>
        <p:nvSpPr>
          <p:cNvPr id="16" name="s4-card-1-summary">
            <a:extLst>
              <a:ext uri="{FF2B5EF4-FFF2-40B4-BE49-F238E27FC236}">
                <a16:creationId xmlns:a16="http://schemas.microsoft.com/office/drawing/2014/main" id="{C55DF2CB-1CF7-48D4-8FCF-82F2FD227573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5143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GR2 생산라인을 3D 모델로 표시하고 이상 오브젝트와 Factory AI 안내를 제공합니다.</a:t>
            </a:r>
          </a:p>
        </p:txBody>
      </p:sp>
      <p:sp>
        <p:nvSpPr>
          <p:cNvPr id="17" name="s4-card-1-route">
            <a:extLst>
              <a:ext uri="{FF2B5EF4-FFF2-40B4-BE49-F238E27FC236}">
                <a16:creationId xmlns:a16="http://schemas.microsoft.com/office/drawing/2014/main" id="{7E45E0E0-EA6D-4828-B66F-AA66A4031FD7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/production/line-monitoring</a:t>
            </a:r>
          </a:p>
        </p:txBody>
      </p:sp>
      <p:sp>
        <p:nvSpPr>
          <p:cNvPr id="18" name="s4-card-2-bg">
            <a:extLst>
              <a:ext uri="{FF2B5EF4-FFF2-40B4-BE49-F238E27FC236}">
                <a16:creationId xmlns:a16="http://schemas.microsoft.com/office/drawing/2014/main" id="{A4DCB571-5535-4220-AE86-539500F44544}"/>
              </a:ext>
            </a:extLst>
          </p:cNvPr>
          <p:cNvSpPr>
            <a:spLocks noGrp="1"/>
          </p:cNvSpPr>
          <p:nvPr/>
        </p:nvSpPr>
        <p:spPr>
          <a:xfrm>
            <a:off x="6248400" y="1190625"/>
            <a:ext cx="5524500" cy="504825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9" name="s4-card-2-no-bg">
            <a:extLst>
              <a:ext uri="{FF2B5EF4-FFF2-40B4-BE49-F238E27FC236}">
                <a16:creationId xmlns:a16="http://schemas.microsoft.com/office/drawing/2014/main" id="{DE637580-AE95-4C4F-9E51-11905971D128}"/>
              </a:ext>
            </a:extLst>
          </p:cNvPr>
          <p:cNvSpPr>
            <a:spLocks noGrp="1"/>
          </p:cNvSpPr>
          <p:nvPr/>
        </p:nvSpPr>
        <p:spPr>
          <a:xfrm>
            <a:off x="6419850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20" name="s4-card-2-no-text">
            <a:extLst>
              <a:ext uri="{FF2B5EF4-FFF2-40B4-BE49-F238E27FC236}">
                <a16:creationId xmlns:a16="http://schemas.microsoft.com/office/drawing/2014/main" id="{EB524B27-E40D-4900-B632-5125E2A74278}"/>
              </a:ext>
            </a:extLst>
          </p:cNvPr>
          <p:cNvSpPr>
            <a:spLocks noGrp="1"/>
          </p:cNvSpPr>
          <p:nvPr/>
        </p:nvSpPr>
        <p:spPr>
          <a:xfrm>
            <a:off x="6419850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02</a:t>
            </a:r>
          </a:p>
        </p:txBody>
      </p:sp>
      <p:sp>
        <p:nvSpPr>
          <p:cNvPr id="21" name="s4-card-2-image-frame">
            <a:extLst>
              <a:ext uri="{FF2B5EF4-FFF2-40B4-BE49-F238E27FC236}">
                <a16:creationId xmlns:a16="http://schemas.microsoft.com/office/drawing/2014/main" id="{C3BA5DE9-D339-4A4C-B485-3815233F879C}"/>
              </a:ext>
            </a:extLst>
          </p:cNvPr>
          <p:cNvSpPr>
            <a:spLocks noGrp="1"/>
          </p:cNvSpPr>
          <p:nvPr/>
        </p:nvSpPr>
        <p:spPr>
          <a:xfrm>
            <a:off x="6400800" y="1657350"/>
            <a:ext cx="5219700" cy="295275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1676400"/>
            <a:ext cx="5181600" cy="2914650"/>
          </a:xfrm>
          <a:prstGeom prst="roundRect">
            <a:avLst>
              <a:gd name="adj" fmla="val 2941"/>
            </a:avLst>
          </a:prstGeom>
        </p:spPr>
      </p:pic>
      <p:sp>
        <p:nvSpPr>
          <p:cNvPr id="23" name="s4-card-2-title">
            <a:extLst>
              <a:ext uri="{FF2B5EF4-FFF2-40B4-BE49-F238E27FC236}">
                <a16:creationId xmlns:a16="http://schemas.microsoft.com/office/drawing/2014/main" id="{2494F1E7-7D9B-43D8-94B8-7E7CC46C2C01}"/>
              </a:ext>
            </a:extLst>
          </p:cNvPr>
          <p:cNvSpPr>
            <a:spLocks noGrp="1"/>
          </p:cNvSpPr>
          <p:nvPr/>
        </p:nvSpPr>
        <p:spPr>
          <a:xfrm>
            <a:off x="6438900" y="4791075"/>
            <a:ext cx="3429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발포설비 예지보전</a:t>
            </a:r>
          </a:p>
        </p:txBody>
      </p:sp>
      <p:sp>
        <p:nvSpPr>
          <p:cNvPr id="24" name="s4-card-2-summary">
            <a:extLst>
              <a:ext uri="{FF2B5EF4-FFF2-40B4-BE49-F238E27FC236}">
                <a16:creationId xmlns:a16="http://schemas.microsoft.com/office/drawing/2014/main" id="{EC553D2B-EF93-4188-9E4A-0ADCC6EFD915}"/>
              </a:ext>
            </a:extLst>
          </p:cNvPr>
          <p:cNvSpPr>
            <a:spLocks noGrp="1"/>
          </p:cNvSpPr>
          <p:nvPr/>
        </p:nvSpPr>
        <p:spPr>
          <a:xfrm>
            <a:off x="6438900" y="5162550"/>
            <a:ext cx="5143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M-01~M-24 설비의 온도·압력 등 핵심 지표를 관리 범위와 비교해 상태를 보여줍니다.</a:t>
            </a:r>
          </a:p>
        </p:txBody>
      </p:sp>
      <p:sp>
        <p:nvSpPr>
          <p:cNvPr id="25" name="s4-card-2-route">
            <a:extLst>
              <a:ext uri="{FF2B5EF4-FFF2-40B4-BE49-F238E27FC236}">
                <a16:creationId xmlns:a16="http://schemas.microsoft.com/office/drawing/2014/main" id="{F71DA8A8-4FF9-48D3-AC09-7406119693EA}"/>
              </a:ext>
            </a:extLst>
          </p:cNvPr>
          <p:cNvSpPr>
            <a:spLocks noGrp="1"/>
          </p:cNvSpPr>
          <p:nvPr/>
        </p:nvSpPr>
        <p:spPr>
          <a:xfrm>
            <a:off x="6438900" y="5781675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/production/foaming-inspection</a:t>
            </a:r>
          </a:p>
        </p:txBody>
      </p:sp>
      <p:sp>
        <p:nvSpPr>
          <p:cNvPr id="26" name="s4-footer-line">
            <a:extLst>
              <a:ext uri="{FF2B5EF4-FFF2-40B4-BE49-F238E27FC236}">
                <a16:creationId xmlns:a16="http://schemas.microsoft.com/office/drawing/2014/main" id="{37127993-27B2-47C1-8185-1025881ED6C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27" name="s4-footer-brand">
            <a:extLst>
              <a:ext uri="{FF2B5EF4-FFF2-40B4-BE49-F238E27FC236}">
                <a16:creationId xmlns:a16="http://schemas.microsoft.com/office/drawing/2014/main" id="{06EF15E2-1711-4978-9AC6-F0434B22E28D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28" name="s4-footer-note">
            <a:extLst>
              <a:ext uri="{FF2B5EF4-FFF2-40B4-BE49-F238E27FC236}">
                <a16:creationId xmlns:a16="http://schemas.microsoft.com/office/drawing/2014/main" id="{0F9443CB-BCB6-4CF1-8F1B-D4D6BA522C55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2개 설비 화면을 동일한 비중으로 비교할 수 있게 구성했습니다.</a:t>
            </a:r>
          </a:p>
        </p:txBody>
      </p:sp>
      <p:sp>
        <p:nvSpPr>
          <p:cNvPr id="29" name="s4-footer-page">
            <a:extLst>
              <a:ext uri="{FF2B5EF4-FFF2-40B4-BE49-F238E27FC236}">
                <a16:creationId xmlns:a16="http://schemas.microsoft.com/office/drawing/2014/main" id="{6234C754-0FDA-4864-B4C5-C3F034076DFE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169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-header">
            <a:extLst>
              <a:ext uri="{FF2B5EF4-FFF2-40B4-BE49-F238E27FC236}">
                <a16:creationId xmlns:a16="http://schemas.microsoft.com/office/drawing/2014/main" id="{D59D0366-7413-47E6-8752-6269C97F16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5-header-accent">
            <a:extLst>
              <a:ext uri="{FF2B5EF4-FFF2-40B4-BE49-F238E27FC236}">
                <a16:creationId xmlns:a16="http://schemas.microsoft.com/office/drawing/2014/main" id="{73C8C35D-FA8B-4507-9850-8BB394501F4E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5-eyebrow">
            <a:extLst>
              <a:ext uri="{FF2B5EF4-FFF2-40B4-BE49-F238E27FC236}">
                <a16:creationId xmlns:a16="http://schemas.microsoft.com/office/drawing/2014/main" id="{2A104CDB-0B6F-492D-8273-71D29990A575}"/>
              </a:ext>
            </a:extLst>
          </p:cNvPr>
          <p:cNvSpPr>
            <a:spLocks noGrp="1"/>
          </p:cNvSpPr>
          <p:nvPr/>
        </p:nvSpPr>
        <p:spPr>
          <a:xfrm>
            <a:off x="419100" y="180975"/>
            <a:ext cx="3429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 · 04</a:t>
            </a:r>
          </a:p>
        </p:txBody>
      </p:sp>
      <p:sp>
        <p:nvSpPr>
          <p:cNvPr id="5" name="s5-title">
            <a:extLst>
              <a:ext uri="{FF2B5EF4-FFF2-40B4-BE49-F238E27FC236}">
                <a16:creationId xmlns:a16="http://schemas.microsoft.com/office/drawing/2014/main" id="{085920DA-B80C-4C1A-8E4C-9354B4045587}"/>
              </a:ext>
            </a:extLst>
          </p:cNvPr>
          <p:cNvSpPr>
            <a:spLocks noGrp="1"/>
          </p:cNvSpPr>
          <p:nvPr/>
        </p:nvSpPr>
        <p:spPr>
          <a:xfrm>
            <a:off x="419100" y="333375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생산관리</a:t>
            </a:r>
          </a:p>
        </p:txBody>
      </p:sp>
      <p:sp>
        <p:nvSpPr>
          <p:cNvPr id="6" name="s5-headline">
            <a:extLst>
              <a:ext uri="{FF2B5EF4-FFF2-40B4-BE49-F238E27FC236}">
                <a16:creationId xmlns:a16="http://schemas.microsoft.com/office/drawing/2014/main" id="{3DFCC9E6-B41B-4219-A3BB-8DD0EF67C55D}"/>
              </a:ext>
            </a:extLst>
          </p:cNvPr>
          <p:cNvSpPr>
            <a:spLocks noGrp="1"/>
          </p:cNvSpPr>
          <p:nvPr/>
        </p:nvSpPr>
        <p:spPr>
          <a:xfrm>
            <a:off x="3429000" y="266700"/>
            <a:ext cx="514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계획과 실적을 한 흐름으로</a:t>
            </a:r>
          </a:p>
        </p:txBody>
      </p:sp>
      <p:sp>
        <p:nvSpPr>
          <p:cNvPr id="7" name="s5-intro">
            <a:extLst>
              <a:ext uri="{FF2B5EF4-FFF2-40B4-BE49-F238E27FC236}">
                <a16:creationId xmlns:a16="http://schemas.microsoft.com/office/drawing/2014/main" id="{C2906462-8DAB-43B5-B1C1-2321C0B64FCC}"/>
              </a:ext>
            </a:extLst>
          </p:cNvPr>
          <p:cNvSpPr>
            <a:spLocks noGrp="1"/>
          </p:cNvSpPr>
          <p:nvPr/>
        </p:nvSpPr>
        <p:spPr>
          <a:xfrm>
            <a:off x="3238500" y="5524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생산계획 리비전과 라인별 택타임·병목 정보를 함께 확인합니다.</a:t>
            </a:r>
          </a:p>
        </p:txBody>
      </p:sp>
      <p:sp>
        <p:nvSpPr>
          <p:cNvPr id="8" name="s5-count">
            <a:extLst>
              <a:ext uri="{FF2B5EF4-FFF2-40B4-BE49-F238E27FC236}">
                <a16:creationId xmlns:a16="http://schemas.microsoft.com/office/drawing/2014/main" id="{910A7540-E6AD-4949-A2CA-1F3F43FED524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s5-count-label">
            <a:extLst>
              <a:ext uri="{FF2B5EF4-FFF2-40B4-BE49-F238E27FC236}">
                <a16:creationId xmlns:a16="http://schemas.microsoft.com/office/drawing/2014/main" id="{D9FDB414-7382-423D-9B42-DA4B2A49E203}"/>
              </a:ext>
            </a:extLst>
          </p:cNvPr>
          <p:cNvSpPr>
            <a:spLocks noGrp="1"/>
          </p:cNvSpPr>
          <p:nvPr/>
        </p:nvSpPr>
        <p:spPr>
          <a:xfrm>
            <a:off x="10001250" y="628650"/>
            <a:ext cx="1047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SUB PAGES</a:t>
            </a:r>
          </a:p>
        </p:txBody>
      </p:sp>
      <p:sp>
        <p:nvSpPr>
          <p:cNvPr id="10" name="s5-card-1-bg">
            <a:extLst>
              <a:ext uri="{FF2B5EF4-FFF2-40B4-BE49-F238E27FC236}">
                <a16:creationId xmlns:a16="http://schemas.microsoft.com/office/drawing/2014/main" id="{AFCF4123-820A-42C1-82A6-1CB755D3D29B}"/>
              </a:ext>
            </a:extLst>
          </p:cNvPr>
          <p:cNvSpPr>
            <a:spLocks noGrp="1"/>
          </p:cNvSpPr>
          <p:nvPr/>
        </p:nvSpPr>
        <p:spPr>
          <a:xfrm>
            <a:off x="419100" y="1190625"/>
            <a:ext cx="5524500" cy="504825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1" name="s5-card-1-no-bg">
            <a:extLst>
              <a:ext uri="{FF2B5EF4-FFF2-40B4-BE49-F238E27FC236}">
                <a16:creationId xmlns:a16="http://schemas.microsoft.com/office/drawing/2014/main" id="{1741070F-2DF5-4783-9E0D-82BAD5879789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12" name="s5-card-1-no-text">
            <a:extLst>
              <a:ext uri="{FF2B5EF4-FFF2-40B4-BE49-F238E27FC236}">
                <a16:creationId xmlns:a16="http://schemas.microsoft.com/office/drawing/2014/main" id="{3C909C67-1D04-4B21-B527-5D3418D7C5A8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01</a:t>
            </a:r>
          </a:p>
        </p:txBody>
      </p:sp>
      <p:sp>
        <p:nvSpPr>
          <p:cNvPr id="13" name="s5-card-1-image-frame">
            <a:extLst>
              <a:ext uri="{FF2B5EF4-FFF2-40B4-BE49-F238E27FC236}">
                <a16:creationId xmlns:a16="http://schemas.microsoft.com/office/drawing/2014/main" id="{E5BEADFA-4769-419A-8466-BFC2EB0125C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5219700" cy="295275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46" name="그림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676400"/>
            <a:ext cx="5181600" cy="2914650"/>
          </a:xfrm>
          <a:prstGeom prst="roundRect">
            <a:avLst>
              <a:gd name="adj" fmla="val 2941"/>
            </a:avLst>
          </a:prstGeom>
        </p:spPr>
      </p:pic>
      <p:sp>
        <p:nvSpPr>
          <p:cNvPr id="15" name="s5-card-1-title">
            <a:extLst>
              <a:ext uri="{FF2B5EF4-FFF2-40B4-BE49-F238E27FC236}">
                <a16:creationId xmlns:a16="http://schemas.microsoft.com/office/drawing/2014/main" id="{D9A97FC3-6457-4912-B5D6-945A54E4ED84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3429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생산계획</a:t>
            </a:r>
          </a:p>
        </p:txBody>
      </p:sp>
      <p:sp>
        <p:nvSpPr>
          <p:cNvPr id="16" name="s5-card-1-summary">
            <a:extLst>
              <a:ext uri="{FF2B5EF4-FFF2-40B4-BE49-F238E27FC236}">
                <a16:creationId xmlns:a16="http://schemas.microsoft.com/office/drawing/2014/main" id="{1B91602A-2E34-4085-A0A9-8ABA7A54DA34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5143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Excel 생산계획 업로드, 미리보기, 리비전 선택·확정과 요약 통계를 지원합니다.</a:t>
            </a:r>
          </a:p>
        </p:txBody>
      </p:sp>
      <p:sp>
        <p:nvSpPr>
          <p:cNvPr id="17" name="s5-card-1-route">
            <a:extLst>
              <a:ext uri="{FF2B5EF4-FFF2-40B4-BE49-F238E27FC236}">
                <a16:creationId xmlns:a16="http://schemas.microsoft.com/office/drawing/2014/main" id="{6544A1E5-50B4-45DD-816B-E814C1B8BE9E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/production/production-plan</a:t>
            </a:r>
          </a:p>
        </p:txBody>
      </p:sp>
      <p:sp>
        <p:nvSpPr>
          <p:cNvPr id="18" name="s5-card-1-demo-bg">
            <a:extLst>
              <a:ext uri="{FF2B5EF4-FFF2-40B4-BE49-F238E27FC236}">
                <a16:creationId xmlns:a16="http://schemas.microsoft.com/office/drawing/2014/main" id="{3E00C7BE-1D3C-42E0-9F4C-4DFDDB838420}"/>
              </a:ext>
            </a:extLst>
          </p:cNvPr>
          <p:cNvSpPr>
            <a:spLocks noGrp="1"/>
          </p:cNvSpPr>
          <p:nvPr/>
        </p:nvSpPr>
        <p:spPr>
          <a:xfrm>
            <a:off x="5124450" y="5762625"/>
            <a:ext cx="457200" cy="1714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F2D39C"/>
            </a:solidFill>
            <a:prstDash val="solid"/>
          </a:ln>
        </p:spPr>
      </p:sp>
      <p:sp>
        <p:nvSpPr>
          <p:cNvPr id="19" name="s5-card-1-demo-text">
            <a:extLst>
              <a:ext uri="{FF2B5EF4-FFF2-40B4-BE49-F238E27FC236}">
                <a16:creationId xmlns:a16="http://schemas.microsoft.com/office/drawing/2014/main" id="{08C002F9-494C-4509-A20D-293E044BC91B}"/>
              </a:ext>
            </a:extLst>
          </p:cNvPr>
          <p:cNvSpPr>
            <a:spLocks noGrp="1"/>
          </p:cNvSpPr>
          <p:nvPr/>
        </p:nvSpPr>
        <p:spPr>
          <a:xfrm>
            <a:off x="5124450" y="57626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rPr>
              <a:t>DEMO</a:t>
            </a:r>
          </a:p>
        </p:txBody>
      </p:sp>
      <p:sp>
        <p:nvSpPr>
          <p:cNvPr id="20" name="s5-card-2-bg">
            <a:extLst>
              <a:ext uri="{FF2B5EF4-FFF2-40B4-BE49-F238E27FC236}">
                <a16:creationId xmlns:a16="http://schemas.microsoft.com/office/drawing/2014/main" id="{EE14FB22-2FFD-4082-A029-96BAEC672D1A}"/>
              </a:ext>
            </a:extLst>
          </p:cNvPr>
          <p:cNvSpPr>
            <a:spLocks noGrp="1"/>
          </p:cNvSpPr>
          <p:nvPr/>
        </p:nvSpPr>
        <p:spPr>
          <a:xfrm>
            <a:off x="6248400" y="1190625"/>
            <a:ext cx="5524500" cy="504825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1" name="s5-card-2-no-bg">
            <a:extLst>
              <a:ext uri="{FF2B5EF4-FFF2-40B4-BE49-F238E27FC236}">
                <a16:creationId xmlns:a16="http://schemas.microsoft.com/office/drawing/2014/main" id="{F8186A5D-02AC-46B1-9EA6-F9B15C831C35}"/>
              </a:ext>
            </a:extLst>
          </p:cNvPr>
          <p:cNvSpPr>
            <a:spLocks noGrp="1"/>
          </p:cNvSpPr>
          <p:nvPr/>
        </p:nvSpPr>
        <p:spPr>
          <a:xfrm>
            <a:off x="6419850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22" name="s5-card-2-no-text">
            <a:extLst>
              <a:ext uri="{FF2B5EF4-FFF2-40B4-BE49-F238E27FC236}">
                <a16:creationId xmlns:a16="http://schemas.microsoft.com/office/drawing/2014/main" id="{BF0F3EE7-FDC0-4BCF-8D96-5510D96C8269}"/>
              </a:ext>
            </a:extLst>
          </p:cNvPr>
          <p:cNvSpPr>
            <a:spLocks noGrp="1"/>
          </p:cNvSpPr>
          <p:nvPr/>
        </p:nvSpPr>
        <p:spPr>
          <a:xfrm>
            <a:off x="6419850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02</a:t>
            </a:r>
          </a:p>
        </p:txBody>
      </p:sp>
      <p:sp>
        <p:nvSpPr>
          <p:cNvPr id="23" name="s5-card-2-image-frame">
            <a:extLst>
              <a:ext uri="{FF2B5EF4-FFF2-40B4-BE49-F238E27FC236}">
                <a16:creationId xmlns:a16="http://schemas.microsoft.com/office/drawing/2014/main" id="{33C7E4DD-1E4C-4168-91BB-B9B16B5B1381}"/>
              </a:ext>
            </a:extLst>
          </p:cNvPr>
          <p:cNvSpPr>
            <a:spLocks noGrp="1"/>
          </p:cNvSpPr>
          <p:nvPr/>
        </p:nvSpPr>
        <p:spPr>
          <a:xfrm>
            <a:off x="6400800" y="1657350"/>
            <a:ext cx="5219700" cy="295275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19850" y="1676400"/>
            <a:ext cx="5181600" cy="2914650"/>
          </a:xfrm>
          <a:prstGeom prst="roundRect">
            <a:avLst>
              <a:gd name="adj" fmla="val 2941"/>
            </a:avLst>
          </a:prstGeom>
        </p:spPr>
      </p:pic>
      <p:sp>
        <p:nvSpPr>
          <p:cNvPr id="25" name="s5-card-2-title">
            <a:extLst>
              <a:ext uri="{FF2B5EF4-FFF2-40B4-BE49-F238E27FC236}">
                <a16:creationId xmlns:a16="http://schemas.microsoft.com/office/drawing/2014/main" id="{23604C00-46CB-408C-B675-7E05D909CDC3}"/>
              </a:ext>
            </a:extLst>
          </p:cNvPr>
          <p:cNvSpPr>
            <a:spLocks noGrp="1"/>
          </p:cNvSpPr>
          <p:nvPr/>
        </p:nvSpPr>
        <p:spPr>
          <a:xfrm>
            <a:off x="6438900" y="4791075"/>
            <a:ext cx="3429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7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작업시간관리</a:t>
            </a:r>
          </a:p>
        </p:txBody>
      </p:sp>
      <p:sp>
        <p:nvSpPr>
          <p:cNvPr id="26" name="s5-card-2-summary">
            <a:extLst>
              <a:ext uri="{FF2B5EF4-FFF2-40B4-BE49-F238E27FC236}">
                <a16:creationId xmlns:a16="http://schemas.microsoft.com/office/drawing/2014/main" id="{1F4F2161-AD8E-4C27-9CE5-0390B61C9E73}"/>
              </a:ext>
            </a:extLst>
          </p:cNvPr>
          <p:cNvSpPr>
            <a:spLocks noGrp="1"/>
          </p:cNvSpPr>
          <p:nvPr/>
        </p:nvSpPr>
        <p:spPr>
          <a:xfrm>
            <a:off x="6438900" y="5162550"/>
            <a:ext cx="5143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78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제품군별 공정 영상, 사이클·택타임 차트, 생산 KPI와 알림 로그를 분석합니다.</a:t>
            </a:r>
          </a:p>
        </p:txBody>
      </p:sp>
      <p:sp>
        <p:nvSpPr>
          <p:cNvPr id="27" name="s5-card-2-route">
            <a:extLst>
              <a:ext uri="{FF2B5EF4-FFF2-40B4-BE49-F238E27FC236}">
                <a16:creationId xmlns:a16="http://schemas.microsoft.com/office/drawing/2014/main" id="{F5316013-9472-400D-952F-CAF15B9C53F0}"/>
              </a:ext>
            </a:extLst>
          </p:cNvPr>
          <p:cNvSpPr>
            <a:spLocks noGrp="1"/>
          </p:cNvSpPr>
          <p:nvPr/>
        </p:nvSpPr>
        <p:spPr>
          <a:xfrm>
            <a:off x="6438900" y="5781675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/production/takttime-dashboard</a:t>
            </a:r>
          </a:p>
        </p:txBody>
      </p:sp>
      <p:sp>
        <p:nvSpPr>
          <p:cNvPr id="28" name="s5-card-2-demo-bg">
            <a:extLst>
              <a:ext uri="{FF2B5EF4-FFF2-40B4-BE49-F238E27FC236}">
                <a16:creationId xmlns:a16="http://schemas.microsoft.com/office/drawing/2014/main" id="{70B299DC-7E37-47FC-A34A-57CA52DE242E}"/>
              </a:ext>
            </a:extLst>
          </p:cNvPr>
          <p:cNvSpPr>
            <a:spLocks noGrp="1"/>
          </p:cNvSpPr>
          <p:nvPr/>
        </p:nvSpPr>
        <p:spPr>
          <a:xfrm>
            <a:off x="10953750" y="5762625"/>
            <a:ext cx="457200" cy="1714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F2D39C"/>
            </a:solidFill>
            <a:prstDash val="solid"/>
          </a:ln>
        </p:spPr>
      </p:sp>
      <p:sp>
        <p:nvSpPr>
          <p:cNvPr id="29" name="s5-card-2-demo-text">
            <a:extLst>
              <a:ext uri="{FF2B5EF4-FFF2-40B4-BE49-F238E27FC236}">
                <a16:creationId xmlns:a16="http://schemas.microsoft.com/office/drawing/2014/main" id="{EB73FE53-93A4-4DE2-BBA6-832362D25F63}"/>
              </a:ext>
            </a:extLst>
          </p:cNvPr>
          <p:cNvSpPr>
            <a:spLocks noGrp="1"/>
          </p:cNvSpPr>
          <p:nvPr/>
        </p:nvSpPr>
        <p:spPr>
          <a:xfrm>
            <a:off x="10953750" y="57626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rPr>
              <a:t>DEMO</a:t>
            </a:r>
          </a:p>
        </p:txBody>
      </p:sp>
      <p:sp>
        <p:nvSpPr>
          <p:cNvPr id="30" name="s5-footer-line">
            <a:extLst>
              <a:ext uri="{FF2B5EF4-FFF2-40B4-BE49-F238E27FC236}">
                <a16:creationId xmlns:a16="http://schemas.microsoft.com/office/drawing/2014/main" id="{AADF16C7-B0AC-448F-8B3A-C0FCC514AAF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31" name="s5-footer-brand">
            <a:extLst>
              <a:ext uri="{FF2B5EF4-FFF2-40B4-BE49-F238E27FC236}">
                <a16:creationId xmlns:a16="http://schemas.microsoft.com/office/drawing/2014/main" id="{876F0A40-A46F-4067-9335-8CD44B8636A4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32" name="s5-footer-note">
            <a:extLst>
              <a:ext uri="{FF2B5EF4-FFF2-40B4-BE49-F238E27FC236}">
                <a16:creationId xmlns:a16="http://schemas.microsoft.com/office/drawing/2014/main" id="{3C07DE23-110E-4530-BE9C-48B5281DF51C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생산계획·작업시간관리 화면에는 개발·예시 데이터가 포함됩니다.</a:t>
            </a:r>
          </a:p>
        </p:txBody>
      </p:sp>
      <p:sp>
        <p:nvSpPr>
          <p:cNvPr id="33" name="s5-footer-page">
            <a:extLst>
              <a:ext uri="{FF2B5EF4-FFF2-40B4-BE49-F238E27FC236}">
                <a16:creationId xmlns:a16="http://schemas.microsoft.com/office/drawing/2014/main" id="{329D4466-6655-4774-8149-4D7E48C7E2B4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734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-header">
            <a:extLst>
              <a:ext uri="{FF2B5EF4-FFF2-40B4-BE49-F238E27FC236}">
                <a16:creationId xmlns:a16="http://schemas.microsoft.com/office/drawing/2014/main" id="{A9124F74-9494-419C-AA98-E5E7D04704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6-header-accent">
            <a:extLst>
              <a:ext uri="{FF2B5EF4-FFF2-40B4-BE49-F238E27FC236}">
                <a16:creationId xmlns:a16="http://schemas.microsoft.com/office/drawing/2014/main" id="{C571C323-25C9-4B3F-A6B9-858A571C249B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6-eyebrow">
            <a:extLst>
              <a:ext uri="{FF2B5EF4-FFF2-40B4-BE49-F238E27FC236}">
                <a16:creationId xmlns:a16="http://schemas.microsoft.com/office/drawing/2014/main" id="{8341040E-9BB4-4FF5-8EE6-F1C9FF89009D}"/>
              </a:ext>
            </a:extLst>
          </p:cNvPr>
          <p:cNvSpPr>
            <a:spLocks noGrp="1"/>
          </p:cNvSpPr>
          <p:nvPr/>
        </p:nvSpPr>
        <p:spPr>
          <a:xfrm>
            <a:off x="419100" y="180975"/>
            <a:ext cx="3429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 · 05</a:t>
            </a:r>
          </a:p>
        </p:txBody>
      </p:sp>
      <p:sp>
        <p:nvSpPr>
          <p:cNvPr id="5" name="s6-title">
            <a:extLst>
              <a:ext uri="{FF2B5EF4-FFF2-40B4-BE49-F238E27FC236}">
                <a16:creationId xmlns:a16="http://schemas.microsoft.com/office/drawing/2014/main" id="{406A662F-777D-4328-A937-AE7AB027693D}"/>
              </a:ext>
            </a:extLst>
          </p:cNvPr>
          <p:cNvSpPr>
            <a:spLocks noGrp="1"/>
          </p:cNvSpPr>
          <p:nvPr/>
        </p:nvSpPr>
        <p:spPr>
          <a:xfrm>
            <a:off x="419100" y="333375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작업관리</a:t>
            </a:r>
          </a:p>
        </p:txBody>
      </p:sp>
      <p:sp>
        <p:nvSpPr>
          <p:cNvPr id="6" name="s6-headline">
            <a:extLst>
              <a:ext uri="{FF2B5EF4-FFF2-40B4-BE49-F238E27FC236}">
                <a16:creationId xmlns:a16="http://schemas.microsoft.com/office/drawing/2014/main" id="{FDD7FF7C-250F-417C-AE5E-2624C4F5FBBE}"/>
              </a:ext>
            </a:extLst>
          </p:cNvPr>
          <p:cNvSpPr>
            <a:spLocks noGrp="1"/>
          </p:cNvSpPr>
          <p:nvPr/>
        </p:nvSpPr>
        <p:spPr>
          <a:xfrm>
            <a:off x="3429000" y="266700"/>
            <a:ext cx="514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현장을 읽는 Physical AI</a:t>
            </a:r>
          </a:p>
        </p:txBody>
      </p:sp>
      <p:sp>
        <p:nvSpPr>
          <p:cNvPr id="7" name="s6-intro">
            <a:extLst>
              <a:ext uri="{FF2B5EF4-FFF2-40B4-BE49-F238E27FC236}">
                <a16:creationId xmlns:a16="http://schemas.microsoft.com/office/drawing/2014/main" id="{9994471A-4392-493B-92F4-38E88277DDF9}"/>
              </a:ext>
            </a:extLst>
          </p:cNvPr>
          <p:cNvSpPr>
            <a:spLocks noGrp="1"/>
          </p:cNvSpPr>
          <p:nvPr/>
        </p:nvSpPr>
        <p:spPr>
          <a:xfrm>
            <a:off x="3238500" y="5524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작업 영상과 안전 감지 로그를 결합해 현장 위험 징후를 시각화합니다.</a:t>
            </a:r>
          </a:p>
        </p:txBody>
      </p:sp>
      <p:sp>
        <p:nvSpPr>
          <p:cNvPr id="8" name="s6-count">
            <a:extLst>
              <a:ext uri="{FF2B5EF4-FFF2-40B4-BE49-F238E27FC236}">
                <a16:creationId xmlns:a16="http://schemas.microsoft.com/office/drawing/2014/main" id="{606881E5-01BB-4C48-AE10-2B06AB82DC93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s6-count-label">
            <a:extLst>
              <a:ext uri="{FF2B5EF4-FFF2-40B4-BE49-F238E27FC236}">
                <a16:creationId xmlns:a16="http://schemas.microsoft.com/office/drawing/2014/main" id="{3B0B4616-A5FB-45BE-9172-50447B81F179}"/>
              </a:ext>
            </a:extLst>
          </p:cNvPr>
          <p:cNvSpPr>
            <a:spLocks noGrp="1"/>
          </p:cNvSpPr>
          <p:nvPr/>
        </p:nvSpPr>
        <p:spPr>
          <a:xfrm>
            <a:off x="10001250" y="628650"/>
            <a:ext cx="1047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SUB PAGES</a:t>
            </a:r>
          </a:p>
        </p:txBody>
      </p:sp>
      <p:sp>
        <p:nvSpPr>
          <p:cNvPr id="10" name="s6-image-panel">
            <a:extLst>
              <a:ext uri="{FF2B5EF4-FFF2-40B4-BE49-F238E27FC236}">
                <a16:creationId xmlns:a16="http://schemas.microsoft.com/office/drawing/2014/main" id="{585B69B4-C49D-4C35-9609-E4BBFA72EDBF}"/>
              </a:ext>
            </a:extLst>
          </p:cNvPr>
          <p:cNvSpPr>
            <a:spLocks noGrp="1"/>
          </p:cNvSpPr>
          <p:nvPr/>
        </p:nvSpPr>
        <p:spPr>
          <a:xfrm>
            <a:off x="419100" y="1162050"/>
            <a:ext cx="8096250" cy="5095875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1" name="s6-image-frame">
            <a:extLst>
              <a:ext uri="{FF2B5EF4-FFF2-40B4-BE49-F238E27FC236}">
                <a16:creationId xmlns:a16="http://schemas.microsoft.com/office/drawing/2014/main" id="{0013FD86-87A1-4E71-86B8-0FC84004B7F2}"/>
              </a:ext>
            </a:extLst>
          </p:cNvPr>
          <p:cNvSpPr>
            <a:spLocks noGrp="1"/>
          </p:cNvSpPr>
          <p:nvPr/>
        </p:nvSpPr>
        <p:spPr>
          <a:xfrm>
            <a:off x="552450" y="1295400"/>
            <a:ext cx="7829550" cy="4419600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47" name="그림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558" y="1314450"/>
            <a:ext cx="7789333" cy="4381500"/>
          </a:xfrm>
          <a:prstGeom prst="roundRect">
            <a:avLst>
              <a:gd name="adj" fmla="val 2174"/>
            </a:avLst>
          </a:prstGeom>
        </p:spPr>
      </p:pic>
      <p:sp>
        <p:nvSpPr>
          <p:cNvPr id="13" name="s6-image-caption">
            <a:extLst>
              <a:ext uri="{FF2B5EF4-FFF2-40B4-BE49-F238E27FC236}">
                <a16:creationId xmlns:a16="http://schemas.microsoft.com/office/drawing/2014/main" id="{AB5ABE6C-6078-4615-8D9D-812C0316BA8E}"/>
              </a:ext>
            </a:extLst>
          </p:cNvPr>
          <p:cNvSpPr>
            <a:spLocks noGrp="1"/>
          </p:cNvSpPr>
          <p:nvPr/>
        </p:nvSpPr>
        <p:spPr>
          <a:xfrm>
            <a:off x="590550" y="5857875"/>
            <a:ext cx="4095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7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75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WAREHOUSE SAFETY AI · ACTUAL PAGE CAPTURE</a:t>
            </a:r>
          </a:p>
        </p:txBody>
      </p:sp>
      <p:sp>
        <p:nvSpPr>
          <p:cNvPr id="14" name="s6-demo-bg">
            <a:extLst>
              <a:ext uri="{FF2B5EF4-FFF2-40B4-BE49-F238E27FC236}">
                <a16:creationId xmlns:a16="http://schemas.microsoft.com/office/drawing/2014/main" id="{8BED55D1-F851-47DF-AE9E-7AA5765B191C}"/>
              </a:ext>
            </a:extLst>
          </p:cNvPr>
          <p:cNvSpPr>
            <a:spLocks noGrp="1"/>
          </p:cNvSpPr>
          <p:nvPr/>
        </p:nvSpPr>
        <p:spPr>
          <a:xfrm>
            <a:off x="7296150" y="5829300"/>
            <a:ext cx="952500" cy="2095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F2D39C"/>
            </a:solidFill>
            <a:prstDash val="solid"/>
          </a:ln>
        </p:spPr>
      </p:sp>
      <p:sp>
        <p:nvSpPr>
          <p:cNvPr id="15" name="s6-demo-text">
            <a:extLst>
              <a:ext uri="{FF2B5EF4-FFF2-40B4-BE49-F238E27FC236}">
                <a16:creationId xmlns:a16="http://schemas.microsoft.com/office/drawing/2014/main" id="{F7E6BDD4-6B43-4E2E-951B-8148F712FD78}"/>
              </a:ext>
            </a:extLst>
          </p:cNvPr>
          <p:cNvSpPr>
            <a:spLocks noGrp="1"/>
          </p:cNvSpPr>
          <p:nvPr/>
        </p:nvSpPr>
        <p:spPr>
          <a:xfrm>
            <a:off x="7296150" y="58293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60" b="1" i="0">
                <a:solidFill>
                  <a:srgbClr val="A76800"/>
                </a:solidFill>
                <a:latin typeface="Pretendard"/>
                <a:ea typeface="Pretendard"/>
                <a:cs typeface="Pretendard"/>
              </a:defRPr>
            </a:pPr>
            <a:r>
              <a:rPr sz="660" b="1" i="0">
                <a:solidFill>
                  <a:srgbClr val="A76800"/>
                </a:solidFill>
                <a:latin typeface="Pretendard"/>
                <a:ea typeface="Pretendard"/>
                <a:cs typeface="Pretendard"/>
              </a:rPr>
              <a:t>DEMO DATA</a:t>
            </a:r>
          </a:p>
        </p:txBody>
      </p:sp>
      <p:sp>
        <p:nvSpPr>
          <p:cNvPr id="16" name="s6-rail">
            <a:extLst>
              <a:ext uri="{FF2B5EF4-FFF2-40B4-BE49-F238E27FC236}">
                <a16:creationId xmlns:a16="http://schemas.microsoft.com/office/drawing/2014/main" id="{A050C9F2-F52B-46CB-9021-84FE98F6A49A}"/>
              </a:ext>
            </a:extLst>
          </p:cNvPr>
          <p:cNvSpPr>
            <a:spLocks noGrp="1"/>
          </p:cNvSpPr>
          <p:nvPr/>
        </p:nvSpPr>
        <p:spPr>
          <a:xfrm>
            <a:off x="8724900" y="1162050"/>
            <a:ext cx="3048000" cy="5095875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7" name="s6-page-bg">
            <a:extLst>
              <a:ext uri="{FF2B5EF4-FFF2-40B4-BE49-F238E27FC236}">
                <a16:creationId xmlns:a16="http://schemas.microsoft.com/office/drawing/2014/main" id="{4F16D27A-71A6-426F-B6DF-C422AD950E6F}"/>
              </a:ext>
            </a:extLst>
          </p:cNvPr>
          <p:cNvSpPr>
            <a:spLocks noGrp="1"/>
          </p:cNvSpPr>
          <p:nvPr/>
        </p:nvSpPr>
        <p:spPr>
          <a:xfrm>
            <a:off x="8934450" y="1362075"/>
            <a:ext cx="64770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18" name="s6-page-text">
            <a:extLst>
              <a:ext uri="{FF2B5EF4-FFF2-40B4-BE49-F238E27FC236}">
                <a16:creationId xmlns:a16="http://schemas.microsoft.com/office/drawing/2014/main" id="{73381C30-2918-43E9-A434-0C30FAD7DC27}"/>
              </a:ext>
            </a:extLst>
          </p:cNvPr>
          <p:cNvSpPr>
            <a:spLocks noGrp="1"/>
          </p:cNvSpPr>
          <p:nvPr/>
        </p:nvSpPr>
        <p:spPr>
          <a:xfrm>
            <a:off x="8934450" y="1362075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01</a:t>
            </a:r>
          </a:p>
        </p:txBody>
      </p:sp>
      <p:sp>
        <p:nvSpPr>
          <p:cNvPr id="19" name="s6-rail-title">
            <a:extLst>
              <a:ext uri="{FF2B5EF4-FFF2-40B4-BE49-F238E27FC236}">
                <a16:creationId xmlns:a16="http://schemas.microsoft.com/office/drawing/2014/main" id="{0D4CCC61-9FC8-4E31-95E2-A1145D2E5143}"/>
              </a:ext>
            </a:extLst>
          </p:cNvPr>
          <p:cNvSpPr>
            <a:spLocks noGrp="1"/>
          </p:cNvSpPr>
          <p:nvPr/>
        </p:nvSpPr>
        <p:spPr>
          <a:xfrm>
            <a:off x="8934450" y="1695450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2025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Physical AI</a:t>
            </a:r>
          </a:p>
        </p:txBody>
      </p:sp>
      <p:sp>
        <p:nvSpPr>
          <p:cNvPr id="20" name="s6-summary">
            <a:extLst>
              <a:ext uri="{FF2B5EF4-FFF2-40B4-BE49-F238E27FC236}">
                <a16:creationId xmlns:a16="http://schemas.microsoft.com/office/drawing/2014/main" id="{D2D6235C-B8E1-41A5-95C4-2183C9F86492}"/>
              </a:ext>
            </a:extLst>
          </p:cNvPr>
          <p:cNvSpPr>
            <a:spLocks noGrp="1"/>
          </p:cNvSpPr>
          <p:nvPr/>
        </p:nvSpPr>
        <p:spPr>
          <a:xfrm>
            <a:off x="8934450" y="2190750"/>
            <a:ext cx="2628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91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91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창고 안전 영상을 바탕으로 대차·작업자 이벤트와 상태 통계를 실시간 관제 형태로 제공합니다.</a:t>
            </a:r>
          </a:p>
        </p:txBody>
      </p:sp>
      <p:sp>
        <p:nvSpPr>
          <p:cNvPr id="21" name="s6-route-label">
            <a:extLst>
              <a:ext uri="{FF2B5EF4-FFF2-40B4-BE49-F238E27FC236}">
                <a16:creationId xmlns:a16="http://schemas.microsoft.com/office/drawing/2014/main" id="{42D7D909-0692-4805-A3EC-A563C7E734AB}"/>
              </a:ext>
            </a:extLst>
          </p:cNvPr>
          <p:cNvSpPr>
            <a:spLocks noGrp="1"/>
          </p:cNvSpPr>
          <p:nvPr/>
        </p:nvSpPr>
        <p:spPr>
          <a:xfrm>
            <a:off x="8934450" y="3067050"/>
            <a:ext cx="571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75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75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ROUTE</a:t>
            </a:r>
          </a:p>
        </p:txBody>
      </p:sp>
      <p:sp>
        <p:nvSpPr>
          <p:cNvPr id="22" name="s6-route">
            <a:extLst>
              <a:ext uri="{FF2B5EF4-FFF2-40B4-BE49-F238E27FC236}">
                <a16:creationId xmlns:a16="http://schemas.microsoft.com/office/drawing/2014/main" id="{5195BF1B-00E3-4F94-A7AC-B2FF14295851}"/>
              </a:ext>
            </a:extLst>
          </p:cNvPr>
          <p:cNvSpPr>
            <a:spLocks noGrp="1"/>
          </p:cNvSpPr>
          <p:nvPr/>
        </p:nvSpPr>
        <p:spPr>
          <a:xfrm>
            <a:off x="8934450" y="3238500"/>
            <a:ext cx="2628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/production/pysical-ai</a:t>
            </a:r>
          </a:p>
        </p:txBody>
      </p:sp>
      <p:sp>
        <p:nvSpPr>
          <p:cNvPr id="23" name="s6-divider">
            <a:extLst>
              <a:ext uri="{FF2B5EF4-FFF2-40B4-BE49-F238E27FC236}">
                <a16:creationId xmlns:a16="http://schemas.microsoft.com/office/drawing/2014/main" id="{68B3F9F2-62DC-4525-A06B-9A752F0F8E62}"/>
              </a:ext>
            </a:extLst>
          </p:cNvPr>
          <p:cNvSpPr>
            <a:spLocks noGrp="1"/>
          </p:cNvSpPr>
          <p:nvPr/>
        </p:nvSpPr>
        <p:spPr>
          <a:xfrm>
            <a:off x="8934450" y="3619500"/>
            <a:ext cx="26289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24" name="s6-feature-title">
            <a:extLst>
              <a:ext uri="{FF2B5EF4-FFF2-40B4-BE49-F238E27FC236}">
                <a16:creationId xmlns:a16="http://schemas.microsoft.com/office/drawing/2014/main" id="{4E31EEEC-8711-42F1-984A-1A42A4BE1EFB}"/>
              </a:ext>
            </a:extLst>
          </p:cNvPr>
          <p:cNvSpPr>
            <a:spLocks noGrp="1"/>
          </p:cNvSpPr>
          <p:nvPr/>
        </p:nvSpPr>
        <p:spPr>
          <a:xfrm>
            <a:off x="8934450" y="38004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975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25" name="s6-bullet-0">
            <a:extLst>
              <a:ext uri="{FF2B5EF4-FFF2-40B4-BE49-F238E27FC236}">
                <a16:creationId xmlns:a16="http://schemas.microsoft.com/office/drawing/2014/main" id="{DE88BD63-BFE6-4D0B-961B-66E51E99C2CF}"/>
              </a:ext>
            </a:extLst>
          </p:cNvPr>
          <p:cNvSpPr>
            <a:spLocks noGrp="1"/>
          </p:cNvSpPr>
          <p:nvPr/>
        </p:nvSpPr>
        <p:spPr>
          <a:xfrm>
            <a:off x="8953500" y="4143375"/>
            <a:ext cx="95250" cy="95250"/>
          </a:xfrm>
          <a:prstGeom prst="ellipse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6" name="s6-feature-0">
            <a:extLst>
              <a:ext uri="{FF2B5EF4-FFF2-40B4-BE49-F238E27FC236}">
                <a16:creationId xmlns:a16="http://schemas.microsoft.com/office/drawing/2014/main" id="{C546B7B2-AF21-406C-B1C1-13819BBB8FC5}"/>
              </a:ext>
            </a:extLst>
          </p:cNvPr>
          <p:cNvSpPr>
            <a:spLocks noGrp="1"/>
          </p:cNvSpPr>
          <p:nvPr/>
        </p:nvSpPr>
        <p:spPr>
          <a:xfrm>
            <a:off x="9144000" y="4067175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84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작업자·대차 안전 이벤트 감지</a:t>
            </a:r>
          </a:p>
        </p:txBody>
      </p:sp>
      <p:sp>
        <p:nvSpPr>
          <p:cNvPr id="27" name="s6-bullet-1">
            <a:extLst>
              <a:ext uri="{FF2B5EF4-FFF2-40B4-BE49-F238E27FC236}">
                <a16:creationId xmlns:a16="http://schemas.microsoft.com/office/drawing/2014/main" id="{CBFD03A2-38F5-4331-99F6-DE4A3BCA9234}"/>
              </a:ext>
            </a:extLst>
          </p:cNvPr>
          <p:cNvSpPr>
            <a:spLocks noGrp="1"/>
          </p:cNvSpPr>
          <p:nvPr/>
        </p:nvSpPr>
        <p:spPr>
          <a:xfrm>
            <a:off x="8953500" y="4600575"/>
            <a:ext cx="95250" cy="95250"/>
          </a:xfrm>
          <a:prstGeom prst="ellipse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28" name="s6-feature-1">
            <a:extLst>
              <a:ext uri="{FF2B5EF4-FFF2-40B4-BE49-F238E27FC236}">
                <a16:creationId xmlns:a16="http://schemas.microsoft.com/office/drawing/2014/main" id="{683FC453-88C2-42CB-BEDD-B3714FE64429}"/>
              </a:ext>
            </a:extLst>
          </p:cNvPr>
          <p:cNvSpPr>
            <a:spLocks noGrp="1"/>
          </p:cNvSpPr>
          <p:nvPr/>
        </p:nvSpPr>
        <p:spPr>
          <a:xfrm>
            <a:off x="9144000" y="4524375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84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현장 영상과 이벤트 로그 통합</a:t>
            </a:r>
          </a:p>
        </p:txBody>
      </p:sp>
      <p:sp>
        <p:nvSpPr>
          <p:cNvPr id="29" name="s6-bullet-2">
            <a:extLst>
              <a:ext uri="{FF2B5EF4-FFF2-40B4-BE49-F238E27FC236}">
                <a16:creationId xmlns:a16="http://schemas.microsoft.com/office/drawing/2014/main" id="{5E1F6764-D501-4C53-9327-63994F9E0061}"/>
              </a:ext>
            </a:extLst>
          </p:cNvPr>
          <p:cNvSpPr>
            <a:spLocks noGrp="1"/>
          </p:cNvSpPr>
          <p:nvPr/>
        </p:nvSpPr>
        <p:spPr>
          <a:xfrm>
            <a:off x="8953500" y="5057775"/>
            <a:ext cx="95250" cy="95250"/>
          </a:xfrm>
          <a:prstGeom prst="ellipse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30" name="s6-feature-2">
            <a:extLst>
              <a:ext uri="{FF2B5EF4-FFF2-40B4-BE49-F238E27FC236}">
                <a16:creationId xmlns:a16="http://schemas.microsoft.com/office/drawing/2014/main" id="{4DD0BDCE-C234-4F2F-AA96-74B9EF91945A}"/>
              </a:ext>
            </a:extLst>
          </p:cNvPr>
          <p:cNvSpPr>
            <a:spLocks noGrp="1"/>
          </p:cNvSpPr>
          <p:nvPr/>
        </p:nvSpPr>
        <p:spPr>
          <a:xfrm>
            <a:off x="9144000" y="4981575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84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84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상태 통계 및 위험 징후 시각화</a:t>
            </a:r>
          </a:p>
        </p:txBody>
      </p:sp>
      <p:sp>
        <p:nvSpPr>
          <p:cNvPr id="31" name="s6-note-bg">
            <a:extLst>
              <a:ext uri="{FF2B5EF4-FFF2-40B4-BE49-F238E27FC236}">
                <a16:creationId xmlns:a16="http://schemas.microsoft.com/office/drawing/2014/main" id="{D772E466-1123-46C1-B087-71A3CAA199DB}"/>
              </a:ext>
            </a:extLst>
          </p:cNvPr>
          <p:cNvSpPr>
            <a:spLocks noGrp="1"/>
          </p:cNvSpPr>
          <p:nvPr/>
        </p:nvSpPr>
        <p:spPr>
          <a:xfrm>
            <a:off x="8934450" y="5514975"/>
            <a:ext cx="2628900" cy="514350"/>
          </a:xfrm>
          <a:prstGeom prst="roundRect">
            <a:avLst>
              <a:gd name="adj" fmla="val 16667"/>
            </a:avLst>
          </a:prstGeom>
          <a:solidFill>
            <a:srgbClr val="FFF8EA"/>
          </a:solidFill>
          <a:ln w="9525">
            <a:solidFill>
              <a:srgbClr val="F2D39C"/>
            </a:solidFill>
            <a:prstDash val="solid"/>
          </a:ln>
        </p:spPr>
      </p:sp>
      <p:sp>
        <p:nvSpPr>
          <p:cNvPr id="32" name="s6-note">
            <a:extLst>
              <a:ext uri="{FF2B5EF4-FFF2-40B4-BE49-F238E27FC236}">
                <a16:creationId xmlns:a16="http://schemas.microsoft.com/office/drawing/2014/main" id="{0BA58802-7BFF-4C2F-9D5F-86B636F8283F}"/>
              </a:ext>
            </a:extLst>
          </p:cNvPr>
          <p:cNvSpPr>
            <a:spLocks noGrp="1"/>
          </p:cNvSpPr>
          <p:nvPr/>
        </p:nvSpPr>
        <p:spPr>
          <a:xfrm>
            <a:off x="9067800" y="56197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713" b="0" i="0">
                <a:solidFill>
                  <a:srgbClr val="8A5B08"/>
                </a:solidFill>
                <a:latin typeface="Pretendard"/>
                <a:ea typeface="Pretendard"/>
                <a:cs typeface="Pretendard"/>
              </a:defRPr>
            </a:pPr>
            <a:r>
              <a:rPr sz="713" b="0" i="0">
                <a:solidFill>
                  <a:srgbClr val="8A5B08"/>
                </a:solidFill>
                <a:latin typeface="Pretendard"/>
                <a:ea typeface="Pretendard"/>
                <a:cs typeface="Pretendard"/>
              </a:rPr>
              <a:t>현재 안전 영상과 이벤트 로그는</a:t>
            </a:r>
          </a:p>
          <a:p>
            <a:pPr algn="ctr">
              <a:lnSpc>
                <a:spcPct val="110000"/>
              </a:lnSpc>
              <a:buNone/>
              <a:defRPr sz="713" b="0" i="0">
                <a:solidFill>
                  <a:srgbClr val="8A5B08"/>
                </a:solidFill>
                <a:latin typeface="Pretendard"/>
                <a:ea typeface="Pretendard"/>
                <a:cs typeface="Pretendard"/>
              </a:defRPr>
            </a:pPr>
            <a:r>
              <a:rPr sz="713" b="0" i="0">
                <a:solidFill>
                  <a:srgbClr val="8A5B08"/>
                </a:solidFill>
                <a:latin typeface="Pretendard"/>
                <a:ea typeface="Pretendard"/>
                <a:cs typeface="Pretendard"/>
              </a:rPr>
              <a:t>개발·예시 데이터 기준입니다.</a:t>
            </a:r>
          </a:p>
        </p:txBody>
      </p:sp>
      <p:sp>
        <p:nvSpPr>
          <p:cNvPr id="33" name="s6-footer-line">
            <a:extLst>
              <a:ext uri="{FF2B5EF4-FFF2-40B4-BE49-F238E27FC236}">
                <a16:creationId xmlns:a16="http://schemas.microsoft.com/office/drawing/2014/main" id="{0D33FA8A-BF5F-46F4-8C21-3122F576D64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34" name="s6-footer-brand">
            <a:extLst>
              <a:ext uri="{FF2B5EF4-FFF2-40B4-BE49-F238E27FC236}">
                <a16:creationId xmlns:a16="http://schemas.microsoft.com/office/drawing/2014/main" id="{7B5A8B2E-A11A-4D3F-B30D-E561CE9514BA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35" name="s6-footer-note">
            <a:extLst>
              <a:ext uri="{FF2B5EF4-FFF2-40B4-BE49-F238E27FC236}">
                <a16:creationId xmlns:a16="http://schemas.microsoft.com/office/drawing/2014/main" id="{95435B90-732C-45C6-945E-E199B9305E47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작업관리 대표 기능 1종 · Physical AI</a:t>
            </a:r>
          </a:p>
        </p:txBody>
      </p:sp>
      <p:sp>
        <p:nvSpPr>
          <p:cNvPr id="36" name="s6-footer-page">
            <a:extLst>
              <a:ext uri="{FF2B5EF4-FFF2-40B4-BE49-F238E27FC236}">
                <a16:creationId xmlns:a16="http://schemas.microsoft.com/office/drawing/2014/main" id="{D8BB5D0F-0A74-422A-84C0-4A44BD0B4128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785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-header">
            <a:extLst>
              <a:ext uri="{FF2B5EF4-FFF2-40B4-BE49-F238E27FC236}">
                <a16:creationId xmlns:a16="http://schemas.microsoft.com/office/drawing/2014/main" id="{9F8135AB-164F-4592-BF04-1E4E579D39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rgbClr val="0B3F91"/>
          </a:solidFill>
          <a:ln w="0">
            <a:solidFill>
              <a:srgbClr val="0B3F91"/>
            </a:solidFill>
            <a:prstDash val="solid"/>
          </a:ln>
        </p:spPr>
      </p:sp>
      <p:sp>
        <p:nvSpPr>
          <p:cNvPr id="3" name="s7-header-accent">
            <a:extLst>
              <a:ext uri="{FF2B5EF4-FFF2-40B4-BE49-F238E27FC236}">
                <a16:creationId xmlns:a16="http://schemas.microsoft.com/office/drawing/2014/main" id="{D5C69709-6BB3-4BBE-9965-311407BB8563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4" name="s7-eyebrow">
            <a:extLst>
              <a:ext uri="{FF2B5EF4-FFF2-40B4-BE49-F238E27FC236}">
                <a16:creationId xmlns:a16="http://schemas.microsoft.com/office/drawing/2014/main" id="{47231FB1-28A4-4A85-A263-9F050BB0089B}"/>
              </a:ext>
            </a:extLst>
          </p:cNvPr>
          <p:cNvSpPr>
            <a:spLocks noGrp="1"/>
          </p:cNvSpPr>
          <p:nvPr/>
        </p:nvSpPr>
        <p:spPr>
          <a:xfrm>
            <a:off x="419100" y="180975"/>
            <a:ext cx="3429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defRPr>
            </a:pPr>
            <a:r>
              <a:rPr sz="788" b="1" i="0">
                <a:solidFill>
                  <a:srgbClr val="BCD8FF"/>
                </a:solidFill>
                <a:latin typeface="Pretendard"/>
                <a:ea typeface="Pretendard"/>
                <a:cs typeface="Pretendard"/>
              </a:rPr>
              <a:t>DXS SMART FACTORY · 06</a:t>
            </a:r>
          </a:p>
        </p:txBody>
      </p:sp>
      <p:sp>
        <p:nvSpPr>
          <p:cNvPr id="5" name="s7-title">
            <a:extLst>
              <a:ext uri="{FF2B5EF4-FFF2-40B4-BE49-F238E27FC236}">
                <a16:creationId xmlns:a16="http://schemas.microsoft.com/office/drawing/2014/main" id="{CEE96CAC-0002-4263-8056-EB1C8171CCE6}"/>
              </a:ext>
            </a:extLst>
          </p:cNvPr>
          <p:cNvSpPr>
            <a:spLocks noGrp="1"/>
          </p:cNvSpPr>
          <p:nvPr/>
        </p:nvSpPr>
        <p:spPr>
          <a:xfrm>
            <a:off x="419100" y="333375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3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출하관리</a:t>
            </a:r>
          </a:p>
        </p:txBody>
      </p:sp>
      <p:sp>
        <p:nvSpPr>
          <p:cNvPr id="6" name="s7-headline">
            <a:extLst>
              <a:ext uri="{FF2B5EF4-FFF2-40B4-BE49-F238E27FC236}">
                <a16:creationId xmlns:a16="http://schemas.microsoft.com/office/drawing/2014/main" id="{81EC93B2-F3DE-4540-8F57-5A11B113CC32}"/>
              </a:ext>
            </a:extLst>
          </p:cNvPr>
          <p:cNvSpPr>
            <a:spLocks noGrp="1"/>
          </p:cNvSpPr>
          <p:nvPr/>
        </p:nvSpPr>
        <p:spPr>
          <a:xfrm>
            <a:off x="3429000" y="266700"/>
            <a:ext cx="5143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창고에서 납품까지 연결</a:t>
            </a:r>
          </a:p>
        </p:txBody>
      </p:sp>
      <p:sp>
        <p:nvSpPr>
          <p:cNvPr id="7" name="s7-intro">
            <a:extLst>
              <a:ext uri="{FF2B5EF4-FFF2-40B4-BE49-F238E27FC236}">
                <a16:creationId xmlns:a16="http://schemas.microsoft.com/office/drawing/2014/main" id="{DB1411BF-B97C-4993-826E-9B201691302B}"/>
              </a:ext>
            </a:extLst>
          </p:cNvPr>
          <p:cNvSpPr>
            <a:spLocks noGrp="1"/>
          </p:cNvSpPr>
          <p:nvPr/>
        </p:nvSpPr>
        <p:spPr>
          <a:xfrm>
            <a:off x="3238500" y="55245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차량 이동, 창고 슬롯, 출하 지표를 하나의 운영 흐름으로 확인합니다.</a:t>
            </a:r>
          </a:p>
        </p:txBody>
      </p:sp>
      <p:sp>
        <p:nvSpPr>
          <p:cNvPr id="8" name="s7-count">
            <a:extLst>
              <a:ext uri="{FF2B5EF4-FFF2-40B4-BE49-F238E27FC236}">
                <a16:creationId xmlns:a16="http://schemas.microsoft.com/office/drawing/2014/main" id="{A878FB7C-5146-4488-A218-4B29FE59CFF1}"/>
              </a:ext>
            </a:extLst>
          </p:cNvPr>
          <p:cNvSpPr>
            <a:spLocks noGrp="1"/>
          </p:cNvSpPr>
          <p:nvPr/>
        </p:nvSpPr>
        <p:spPr>
          <a:xfrm>
            <a:off x="10096500" y="1619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9" name="s7-count-label">
            <a:extLst>
              <a:ext uri="{FF2B5EF4-FFF2-40B4-BE49-F238E27FC236}">
                <a16:creationId xmlns:a16="http://schemas.microsoft.com/office/drawing/2014/main" id="{AB079BA0-5ABD-4A77-B78C-9F5559AE1D60}"/>
              </a:ext>
            </a:extLst>
          </p:cNvPr>
          <p:cNvSpPr>
            <a:spLocks noGrp="1"/>
          </p:cNvSpPr>
          <p:nvPr/>
        </p:nvSpPr>
        <p:spPr>
          <a:xfrm>
            <a:off x="10001250" y="628650"/>
            <a:ext cx="1047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defRPr>
            </a:pPr>
            <a:r>
              <a:rPr sz="713" b="1" i="0">
                <a:solidFill>
                  <a:srgbClr val="D8E9FF"/>
                </a:solidFill>
                <a:latin typeface="Pretendard"/>
                <a:ea typeface="Pretendard"/>
                <a:cs typeface="Pretendard"/>
              </a:rPr>
              <a:t>SUB PAGES</a:t>
            </a:r>
          </a:p>
        </p:txBody>
      </p:sp>
      <p:sp>
        <p:nvSpPr>
          <p:cNvPr id="10" name="s7-card-1-bg">
            <a:extLst>
              <a:ext uri="{FF2B5EF4-FFF2-40B4-BE49-F238E27FC236}">
                <a16:creationId xmlns:a16="http://schemas.microsoft.com/office/drawing/2014/main" id="{57B986C1-0A42-4A32-81A1-D3A8FC786FF9}"/>
              </a:ext>
            </a:extLst>
          </p:cNvPr>
          <p:cNvSpPr>
            <a:spLocks noGrp="1"/>
          </p:cNvSpPr>
          <p:nvPr/>
        </p:nvSpPr>
        <p:spPr>
          <a:xfrm>
            <a:off x="419100" y="1190625"/>
            <a:ext cx="3676650" cy="504825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11" name="s7-card-1-no-bg">
            <a:extLst>
              <a:ext uri="{FF2B5EF4-FFF2-40B4-BE49-F238E27FC236}">
                <a16:creationId xmlns:a16="http://schemas.microsoft.com/office/drawing/2014/main" id="{E035A211-DAF6-4DA1-990C-FCC40C3C1077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12" name="s7-card-1-no-text">
            <a:extLst>
              <a:ext uri="{FF2B5EF4-FFF2-40B4-BE49-F238E27FC236}">
                <a16:creationId xmlns:a16="http://schemas.microsoft.com/office/drawing/2014/main" id="{2600760F-CE20-4905-9721-D33D1E569EBC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01</a:t>
            </a:r>
          </a:p>
        </p:txBody>
      </p:sp>
      <p:sp>
        <p:nvSpPr>
          <p:cNvPr id="13" name="s7-card-1-image-frame">
            <a:extLst>
              <a:ext uri="{FF2B5EF4-FFF2-40B4-BE49-F238E27FC236}">
                <a16:creationId xmlns:a16="http://schemas.microsoft.com/office/drawing/2014/main" id="{699F3E70-392D-4A4D-B5CC-33EC0AEC3840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3409950" cy="1933575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58" name="그림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558" y="1676400"/>
            <a:ext cx="3369733" cy="1895475"/>
          </a:xfrm>
          <a:prstGeom prst="roundRect">
            <a:avLst>
              <a:gd name="adj" fmla="val 4523"/>
            </a:avLst>
          </a:prstGeom>
        </p:spPr>
      </p:pic>
      <p:sp>
        <p:nvSpPr>
          <p:cNvPr id="15" name="s7-card-1-title">
            <a:extLst>
              <a:ext uri="{FF2B5EF4-FFF2-40B4-BE49-F238E27FC236}">
                <a16:creationId xmlns:a16="http://schemas.microsoft.com/office/drawing/2014/main" id="{9BF159D9-4032-4837-8368-A082EF3A36D8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65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운송관리</a:t>
            </a:r>
          </a:p>
        </p:txBody>
      </p:sp>
      <p:sp>
        <p:nvSpPr>
          <p:cNvPr id="16" name="s7-card-1-summary">
            <a:extLst>
              <a:ext uri="{FF2B5EF4-FFF2-40B4-BE49-F238E27FC236}">
                <a16:creationId xmlns:a16="http://schemas.microsoft.com/office/drawing/2014/main" id="{B85F2847-4D7C-475F-800A-34E17261B126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3333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82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차량 운행을 2D 지도·3D 디지털 트윈으로 표시하고 ETA와 운행 통계를 제공합니다.</a:t>
            </a:r>
          </a:p>
        </p:txBody>
      </p:sp>
      <p:sp>
        <p:nvSpPr>
          <p:cNvPr id="17" name="s7-card-1-rule">
            <a:extLst>
              <a:ext uri="{FF2B5EF4-FFF2-40B4-BE49-F238E27FC236}">
                <a16:creationId xmlns:a16="http://schemas.microsoft.com/office/drawing/2014/main" id="{C66E39A6-8BB0-471C-8C85-FC3CC725E333}"/>
              </a:ext>
            </a:extLst>
          </p:cNvPr>
          <p:cNvSpPr>
            <a:spLocks noGrp="1"/>
          </p:cNvSpPr>
          <p:nvPr/>
        </p:nvSpPr>
        <p:spPr>
          <a:xfrm>
            <a:off x="590550" y="5029200"/>
            <a:ext cx="3333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18" name="s7-card-1-route-label">
            <a:extLst>
              <a:ext uri="{FF2B5EF4-FFF2-40B4-BE49-F238E27FC236}">
                <a16:creationId xmlns:a16="http://schemas.microsoft.com/office/drawing/2014/main" id="{16A34F16-33DA-41E0-B40C-20F6B86FFADA}"/>
              </a:ext>
            </a:extLst>
          </p:cNvPr>
          <p:cNvSpPr>
            <a:spLocks noGrp="1"/>
          </p:cNvSpPr>
          <p:nvPr/>
        </p:nvSpPr>
        <p:spPr>
          <a:xfrm>
            <a:off x="590550" y="5200650"/>
            <a:ext cx="571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ROUTE</a:t>
            </a:r>
          </a:p>
        </p:txBody>
      </p:sp>
      <p:sp>
        <p:nvSpPr>
          <p:cNvPr id="19" name="s7-card-1-route">
            <a:extLst>
              <a:ext uri="{FF2B5EF4-FFF2-40B4-BE49-F238E27FC236}">
                <a16:creationId xmlns:a16="http://schemas.microsoft.com/office/drawing/2014/main" id="{6F8D0BB5-A26A-44B3-93A3-E172CB907A54}"/>
              </a:ext>
            </a:extLst>
          </p:cNvPr>
          <p:cNvSpPr>
            <a:spLocks noGrp="1"/>
          </p:cNvSpPr>
          <p:nvPr/>
        </p:nvSpPr>
        <p:spPr>
          <a:xfrm>
            <a:off x="590550" y="5391150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/transport/realtime-status</a:t>
            </a:r>
          </a:p>
        </p:txBody>
      </p:sp>
      <p:sp>
        <p:nvSpPr>
          <p:cNvPr id="20" name="s7-card-2-bg">
            <a:extLst>
              <a:ext uri="{FF2B5EF4-FFF2-40B4-BE49-F238E27FC236}">
                <a16:creationId xmlns:a16="http://schemas.microsoft.com/office/drawing/2014/main" id="{84A6FA26-36A7-4F2D-A78C-726074D50902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3676650" cy="504825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21" name="s7-card-2-no-bg">
            <a:extLst>
              <a:ext uri="{FF2B5EF4-FFF2-40B4-BE49-F238E27FC236}">
                <a16:creationId xmlns:a16="http://schemas.microsoft.com/office/drawing/2014/main" id="{3CED8D2D-98A9-445B-97D6-39A1DEEEBC6D}"/>
              </a:ext>
            </a:extLst>
          </p:cNvPr>
          <p:cNvSpPr>
            <a:spLocks noGrp="1"/>
          </p:cNvSpPr>
          <p:nvPr/>
        </p:nvSpPr>
        <p:spPr>
          <a:xfrm>
            <a:off x="4429125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22" name="s7-card-2-no-text">
            <a:extLst>
              <a:ext uri="{FF2B5EF4-FFF2-40B4-BE49-F238E27FC236}">
                <a16:creationId xmlns:a16="http://schemas.microsoft.com/office/drawing/2014/main" id="{BD3D9195-8BEE-487D-A029-F9D15B0BE109}"/>
              </a:ext>
            </a:extLst>
          </p:cNvPr>
          <p:cNvSpPr>
            <a:spLocks noGrp="1"/>
          </p:cNvSpPr>
          <p:nvPr/>
        </p:nvSpPr>
        <p:spPr>
          <a:xfrm>
            <a:off x="4429125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02</a:t>
            </a:r>
          </a:p>
        </p:txBody>
      </p:sp>
      <p:sp>
        <p:nvSpPr>
          <p:cNvPr id="23" name="s7-card-2-image-frame">
            <a:extLst>
              <a:ext uri="{FF2B5EF4-FFF2-40B4-BE49-F238E27FC236}">
                <a16:creationId xmlns:a16="http://schemas.microsoft.com/office/drawing/2014/main" id="{A9CC21B0-583A-4926-A5A0-5AD1BCB5C08E}"/>
              </a:ext>
            </a:extLst>
          </p:cNvPr>
          <p:cNvSpPr>
            <a:spLocks noGrp="1"/>
          </p:cNvSpPr>
          <p:nvPr/>
        </p:nvSpPr>
        <p:spPr>
          <a:xfrm>
            <a:off x="4391025" y="1657350"/>
            <a:ext cx="3409950" cy="1933575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68" name="그림 6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1133" y="1676400"/>
            <a:ext cx="3369733" cy="1895475"/>
          </a:xfrm>
          <a:prstGeom prst="roundRect">
            <a:avLst>
              <a:gd name="adj" fmla="val 4523"/>
            </a:avLst>
          </a:prstGeom>
        </p:spPr>
      </p:pic>
      <p:sp>
        <p:nvSpPr>
          <p:cNvPr id="25" name="s7-card-2-title">
            <a:extLst>
              <a:ext uri="{FF2B5EF4-FFF2-40B4-BE49-F238E27FC236}">
                <a16:creationId xmlns:a16="http://schemas.microsoft.com/office/drawing/2014/main" id="{8967C571-ACC8-44D7-AC06-64EA527C249C}"/>
              </a:ext>
            </a:extLst>
          </p:cNvPr>
          <p:cNvSpPr>
            <a:spLocks noGrp="1"/>
          </p:cNvSpPr>
          <p:nvPr/>
        </p:nvSpPr>
        <p:spPr>
          <a:xfrm>
            <a:off x="4429125" y="38100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65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제품창고</a:t>
            </a:r>
          </a:p>
        </p:txBody>
      </p:sp>
      <p:sp>
        <p:nvSpPr>
          <p:cNvPr id="26" name="s7-card-2-summary">
            <a:extLst>
              <a:ext uri="{FF2B5EF4-FFF2-40B4-BE49-F238E27FC236}">
                <a16:creationId xmlns:a16="http://schemas.microsoft.com/office/drawing/2014/main" id="{D1861941-F457-4457-AC28-F141F87F57CB}"/>
              </a:ext>
            </a:extLst>
          </p:cNvPr>
          <p:cNvSpPr>
            <a:spLocks noGrp="1"/>
          </p:cNvSpPr>
          <p:nvPr/>
        </p:nvSpPr>
        <p:spPr>
          <a:xfrm>
            <a:off x="4429125" y="4210050"/>
            <a:ext cx="3333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82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완제품 창고의 구역별 적재율, 스마트 맵, 카메라·재고 목록과 품목 검색을 제공합니다.</a:t>
            </a:r>
          </a:p>
        </p:txBody>
      </p:sp>
      <p:sp>
        <p:nvSpPr>
          <p:cNvPr id="27" name="s7-card-2-rule">
            <a:extLst>
              <a:ext uri="{FF2B5EF4-FFF2-40B4-BE49-F238E27FC236}">
                <a16:creationId xmlns:a16="http://schemas.microsoft.com/office/drawing/2014/main" id="{AAB7F6E0-DC9E-4959-AE6E-7ED4FF2DD066}"/>
              </a:ext>
            </a:extLst>
          </p:cNvPr>
          <p:cNvSpPr>
            <a:spLocks noGrp="1"/>
          </p:cNvSpPr>
          <p:nvPr/>
        </p:nvSpPr>
        <p:spPr>
          <a:xfrm>
            <a:off x="4429125" y="5029200"/>
            <a:ext cx="3333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28" name="s7-card-2-route-label">
            <a:extLst>
              <a:ext uri="{FF2B5EF4-FFF2-40B4-BE49-F238E27FC236}">
                <a16:creationId xmlns:a16="http://schemas.microsoft.com/office/drawing/2014/main" id="{A2AAD741-288A-4B5F-B230-E69CD6501484}"/>
              </a:ext>
            </a:extLst>
          </p:cNvPr>
          <p:cNvSpPr>
            <a:spLocks noGrp="1"/>
          </p:cNvSpPr>
          <p:nvPr/>
        </p:nvSpPr>
        <p:spPr>
          <a:xfrm>
            <a:off x="4429125" y="5200650"/>
            <a:ext cx="571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ROUTE</a:t>
            </a:r>
          </a:p>
        </p:txBody>
      </p:sp>
      <p:sp>
        <p:nvSpPr>
          <p:cNvPr id="29" name="s7-card-2-route">
            <a:extLst>
              <a:ext uri="{FF2B5EF4-FFF2-40B4-BE49-F238E27FC236}">
                <a16:creationId xmlns:a16="http://schemas.microsoft.com/office/drawing/2014/main" id="{CCA20BDF-0A8F-4235-909B-E7EF16255E69}"/>
              </a:ext>
            </a:extLst>
          </p:cNvPr>
          <p:cNvSpPr>
            <a:spLocks noGrp="1"/>
          </p:cNvSpPr>
          <p:nvPr/>
        </p:nvSpPr>
        <p:spPr>
          <a:xfrm>
            <a:off x="4429125" y="5391150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/transport/warehouse-management</a:t>
            </a:r>
          </a:p>
        </p:txBody>
      </p:sp>
      <p:sp>
        <p:nvSpPr>
          <p:cNvPr id="30" name="s7-card-3-bg">
            <a:extLst>
              <a:ext uri="{FF2B5EF4-FFF2-40B4-BE49-F238E27FC236}">
                <a16:creationId xmlns:a16="http://schemas.microsoft.com/office/drawing/2014/main" id="{CE987B1F-0F14-4D98-B837-A41F7DAACD03}"/>
              </a:ext>
            </a:extLst>
          </p:cNvPr>
          <p:cNvSpPr>
            <a:spLocks noGrp="1"/>
          </p:cNvSpPr>
          <p:nvPr/>
        </p:nvSpPr>
        <p:spPr>
          <a:xfrm>
            <a:off x="8096250" y="1190625"/>
            <a:ext cx="3676650" cy="504825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sp>
        <p:nvSpPr>
          <p:cNvPr id="31" name="s7-card-3-no-bg">
            <a:extLst>
              <a:ext uri="{FF2B5EF4-FFF2-40B4-BE49-F238E27FC236}">
                <a16:creationId xmlns:a16="http://schemas.microsoft.com/office/drawing/2014/main" id="{E3689FF3-DCB8-4ADC-B7DE-DEB2A798BCAA}"/>
              </a:ext>
            </a:extLst>
          </p:cNvPr>
          <p:cNvSpPr>
            <a:spLocks noGrp="1"/>
          </p:cNvSpPr>
          <p:nvPr/>
        </p:nvSpPr>
        <p:spPr>
          <a:xfrm>
            <a:off x="8267700" y="1362075"/>
            <a:ext cx="666750" cy="19050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C5DCF8"/>
            </a:solidFill>
            <a:prstDash val="solid"/>
          </a:ln>
        </p:spPr>
      </p:sp>
      <p:sp>
        <p:nvSpPr>
          <p:cNvPr id="32" name="s7-card-3-no-text">
            <a:extLst>
              <a:ext uri="{FF2B5EF4-FFF2-40B4-BE49-F238E27FC236}">
                <a16:creationId xmlns:a16="http://schemas.microsoft.com/office/drawing/2014/main" id="{FD1127F9-4200-431E-B063-2448ACD8225A}"/>
              </a:ext>
            </a:extLst>
          </p:cNvPr>
          <p:cNvSpPr>
            <a:spLocks noGrp="1"/>
          </p:cNvSpPr>
          <p:nvPr/>
        </p:nvSpPr>
        <p:spPr>
          <a:xfrm>
            <a:off x="8267700" y="1362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PAGE 03</a:t>
            </a:r>
          </a:p>
        </p:txBody>
      </p:sp>
      <p:sp>
        <p:nvSpPr>
          <p:cNvPr id="33" name="s7-card-3-image-frame">
            <a:extLst>
              <a:ext uri="{FF2B5EF4-FFF2-40B4-BE49-F238E27FC236}">
                <a16:creationId xmlns:a16="http://schemas.microsoft.com/office/drawing/2014/main" id="{9E07EF89-4B6E-4EBB-A387-F6D5954F7612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3409950" cy="1933575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9525">
            <a:solidFill>
              <a:srgbClr val="D7E3F3"/>
            </a:solidFill>
            <a:prstDash val="solid"/>
          </a:ln>
        </p:spPr>
      </p:sp>
      <p:pic>
        <p:nvPicPr>
          <p:cNvPr id="78" name="그림 7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49708" y="1676400"/>
            <a:ext cx="3369733" cy="1895475"/>
          </a:xfrm>
          <a:prstGeom prst="roundRect">
            <a:avLst>
              <a:gd name="adj" fmla="val 4523"/>
            </a:avLst>
          </a:prstGeom>
        </p:spPr>
      </p:pic>
      <p:sp>
        <p:nvSpPr>
          <p:cNvPr id="35" name="s7-card-3-title">
            <a:extLst>
              <a:ext uri="{FF2B5EF4-FFF2-40B4-BE49-F238E27FC236}">
                <a16:creationId xmlns:a16="http://schemas.microsoft.com/office/drawing/2014/main" id="{7DF5181E-7E71-40E4-8997-4CB15AEB8B17}"/>
              </a:ext>
            </a:extLst>
          </p:cNvPr>
          <p:cNvSpPr>
            <a:spLocks noGrp="1"/>
          </p:cNvSpPr>
          <p:nvPr/>
        </p:nvSpPr>
        <p:spPr>
          <a:xfrm>
            <a:off x="8267700" y="38100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defRPr>
            </a:pPr>
            <a:r>
              <a:rPr sz="1650" b="1" i="0">
                <a:solidFill>
                  <a:srgbClr val="112541"/>
                </a:solidFill>
                <a:latin typeface="Pretendard"/>
                <a:ea typeface="Pretendard"/>
                <a:cs typeface="Pretendard"/>
              </a:rPr>
              <a:t>출하처리</a:t>
            </a:r>
          </a:p>
        </p:txBody>
      </p:sp>
      <p:sp>
        <p:nvSpPr>
          <p:cNvPr id="36" name="s7-card-3-summary">
            <a:extLst>
              <a:ext uri="{FF2B5EF4-FFF2-40B4-BE49-F238E27FC236}">
                <a16:creationId xmlns:a16="http://schemas.microsoft.com/office/drawing/2014/main" id="{CC179AF9-CB11-45AF-AA36-76E5637CDC36}"/>
              </a:ext>
            </a:extLst>
          </p:cNvPr>
          <p:cNvSpPr>
            <a:spLocks noGrp="1"/>
          </p:cNvSpPr>
          <p:nvPr/>
        </p:nvSpPr>
        <p:spPr>
          <a:xfrm>
            <a:off x="8267700" y="4210050"/>
            <a:ext cx="3333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82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defRPr>
            </a:pPr>
            <a:r>
              <a:rPr sz="825" b="0" i="0">
                <a:solidFill>
                  <a:srgbClr val="435774"/>
                </a:solidFill>
                <a:latin typeface="Pretendard"/>
                <a:ea typeface="Pretendard"/>
                <a:cs typeface="Pretendard"/>
              </a:rPr>
              <a:t>일별·주간 출하량을 확정 실적, 보간값, AI 예측값으로 구분해 비교합니다.</a:t>
            </a:r>
          </a:p>
        </p:txBody>
      </p:sp>
      <p:sp>
        <p:nvSpPr>
          <p:cNvPr id="37" name="s7-card-3-rule">
            <a:extLst>
              <a:ext uri="{FF2B5EF4-FFF2-40B4-BE49-F238E27FC236}">
                <a16:creationId xmlns:a16="http://schemas.microsoft.com/office/drawing/2014/main" id="{9B01EEAC-22E4-48F6-9C58-325764C7C0E8}"/>
              </a:ext>
            </a:extLst>
          </p:cNvPr>
          <p:cNvSpPr>
            <a:spLocks noGrp="1"/>
          </p:cNvSpPr>
          <p:nvPr/>
        </p:nvSpPr>
        <p:spPr>
          <a:xfrm>
            <a:off x="8267700" y="5029200"/>
            <a:ext cx="333375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38" name="s7-card-3-route-label">
            <a:extLst>
              <a:ext uri="{FF2B5EF4-FFF2-40B4-BE49-F238E27FC236}">
                <a16:creationId xmlns:a16="http://schemas.microsoft.com/office/drawing/2014/main" id="{D8B1E4DB-2422-467D-9183-2960B7192DDD}"/>
              </a:ext>
            </a:extLst>
          </p:cNvPr>
          <p:cNvSpPr>
            <a:spLocks noGrp="1"/>
          </p:cNvSpPr>
          <p:nvPr/>
        </p:nvSpPr>
        <p:spPr>
          <a:xfrm>
            <a:off x="8267700" y="5200650"/>
            <a:ext cx="571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ROUTE</a:t>
            </a:r>
          </a:p>
        </p:txBody>
      </p:sp>
      <p:sp>
        <p:nvSpPr>
          <p:cNvPr id="39" name="s7-card-3-route">
            <a:extLst>
              <a:ext uri="{FF2B5EF4-FFF2-40B4-BE49-F238E27FC236}">
                <a16:creationId xmlns:a16="http://schemas.microsoft.com/office/drawing/2014/main" id="{D6BA40C6-BE67-4DE6-8603-D8114B9509EA}"/>
              </a:ext>
            </a:extLst>
          </p:cNvPr>
          <p:cNvSpPr>
            <a:spLocks noGrp="1"/>
          </p:cNvSpPr>
          <p:nvPr/>
        </p:nvSpPr>
        <p:spPr>
          <a:xfrm>
            <a:off x="8267700" y="5391150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69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/transport/shipment</a:t>
            </a:r>
          </a:p>
        </p:txBody>
      </p:sp>
      <p:sp>
        <p:nvSpPr>
          <p:cNvPr id="40" name="s7-card-3-demo-bg">
            <a:extLst>
              <a:ext uri="{FF2B5EF4-FFF2-40B4-BE49-F238E27FC236}">
                <a16:creationId xmlns:a16="http://schemas.microsoft.com/office/drawing/2014/main" id="{B79D6507-B735-47BA-A6A0-1ED420726A92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457200" cy="17145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F2D39C"/>
            </a:solidFill>
            <a:prstDash val="solid"/>
          </a:ln>
        </p:spPr>
      </p:sp>
      <p:sp>
        <p:nvSpPr>
          <p:cNvPr id="41" name="s7-card-3-demo-text">
            <a:extLst>
              <a:ext uri="{FF2B5EF4-FFF2-40B4-BE49-F238E27FC236}">
                <a16:creationId xmlns:a16="http://schemas.microsoft.com/office/drawing/2014/main" id="{EA4D7023-C024-4921-8850-037CC70DB2D3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ctr">
            <a:noAutofit/>
          </a:bodyPr>
          <a:lstStyle/>
          <a:p>
            <a:pPr algn="ctr">
              <a:def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A76800"/>
                </a:solidFill>
                <a:latin typeface="Pretendard"/>
                <a:ea typeface="Pretendard"/>
                <a:cs typeface="Pretendard"/>
              </a:rPr>
              <a:t>DEMO</a:t>
            </a:r>
          </a:p>
        </p:txBody>
      </p:sp>
      <p:sp>
        <p:nvSpPr>
          <p:cNvPr id="42" name="s7-footer-line">
            <a:extLst>
              <a:ext uri="{FF2B5EF4-FFF2-40B4-BE49-F238E27FC236}">
                <a16:creationId xmlns:a16="http://schemas.microsoft.com/office/drawing/2014/main" id="{1EB031B7-9E8B-4A6B-82CA-50D3759314B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11353800" cy="0"/>
          </a:xfrm>
          <a:prstGeom prst="line">
            <a:avLst/>
          </a:prstGeom>
          <a:noFill/>
          <a:ln w="9525">
            <a:solidFill>
              <a:srgbClr val="D7E3F3"/>
            </a:solidFill>
            <a:prstDash val="solid"/>
          </a:ln>
        </p:spPr>
      </p:sp>
      <p:sp>
        <p:nvSpPr>
          <p:cNvPr id="43" name="s7-footer-brand">
            <a:extLst>
              <a:ext uri="{FF2B5EF4-FFF2-40B4-BE49-F238E27FC236}">
                <a16:creationId xmlns:a16="http://schemas.microsoft.com/office/drawing/2014/main" id="{9E5545BE-F289-4149-924F-E927D8664052}"/>
              </a:ext>
            </a:extLst>
          </p:cNvPr>
          <p:cNvSpPr>
            <a:spLocks noGrp="1"/>
          </p:cNvSpPr>
          <p:nvPr/>
        </p:nvSpPr>
        <p:spPr>
          <a:xfrm>
            <a:off x="419100" y="6591300"/>
            <a:ext cx="35242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defRPr>
            </a:pPr>
            <a:r>
              <a:rPr sz="638" b="1" i="0">
                <a:solidFill>
                  <a:srgbClr val="0B3F91"/>
                </a:solidFill>
                <a:latin typeface="Pretendard"/>
                <a:ea typeface="Pretendard"/>
                <a:cs typeface="Pretendard"/>
              </a:rPr>
              <a:t>DXS SMART FACTORY · EDITABLE MENU GUIDE</a:t>
            </a:r>
          </a:p>
        </p:txBody>
      </p:sp>
      <p:sp>
        <p:nvSpPr>
          <p:cNvPr id="44" name="s7-footer-note">
            <a:extLst>
              <a:ext uri="{FF2B5EF4-FFF2-40B4-BE49-F238E27FC236}">
                <a16:creationId xmlns:a16="http://schemas.microsoft.com/office/drawing/2014/main" id="{A32D9941-84BB-46E0-8FD1-C403EB403E92}"/>
              </a:ext>
            </a:extLst>
          </p:cNvPr>
          <p:cNvSpPr>
            <a:spLocks noGrp="1"/>
          </p:cNvSpPr>
          <p:nvPr/>
        </p:nvSpPr>
        <p:spPr>
          <a:xfrm>
            <a:off x="4095750" y="6591300"/>
            <a:ext cx="4095750" cy="123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defRPr>
            </a:pPr>
            <a:r>
              <a:rPr sz="638" b="0" i="0">
                <a:solidFill>
                  <a:srgbClr val="75869D"/>
                </a:solidFill>
                <a:latin typeface="Pretendard"/>
                <a:ea typeface="Pretendard"/>
                <a:cs typeface="Pretendard"/>
              </a:rPr>
              <a:t>출하처리 화면은 현재 출하 지표 시각화 중심의 개발 화면입니다.</a:t>
            </a:r>
          </a:p>
        </p:txBody>
      </p:sp>
      <p:sp>
        <p:nvSpPr>
          <p:cNvPr id="45" name="s7-footer-page">
            <a:extLst>
              <a:ext uri="{FF2B5EF4-FFF2-40B4-BE49-F238E27FC236}">
                <a16:creationId xmlns:a16="http://schemas.microsoft.com/office/drawing/2014/main" id="{2E3A313B-917E-4B89-A20F-D2FA779E81D7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6286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defRPr>
            </a:pPr>
            <a:r>
              <a:rPr sz="750" b="1" i="0">
                <a:solidFill>
                  <a:srgbClr val="1769E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79446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DocSecurity>0</DocSecurity>
  <PresentationFormat>와이드스크린</PresentationFormat>
  <Paragraphs>180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2026-08-21T05:23:53Z</dcterms:created>
  <dcterms:modified xsi:type="dcterms:W3CDTF">2026-08-21T05:34:10Z</dcterms:modified>
</cp:coreProperties>
</file>